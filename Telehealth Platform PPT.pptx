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10.jpg" ContentType="image/jpeg"/>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325" r:id="rId5"/>
    <p:sldId id="326" r:id="rId6"/>
    <p:sldId id="327" r:id="rId7"/>
    <p:sldId id="341" r:id="rId8"/>
    <p:sldId id="342" r:id="rId9"/>
    <p:sldId id="343" r:id="rId10"/>
    <p:sldId id="344" r:id="rId11"/>
    <p:sldId id="345" r:id="rId12"/>
    <p:sldId id="346" r:id="rId13"/>
    <p:sldId id="347" r:id="rId14"/>
    <p:sldId id="348" r:id="rId15"/>
    <p:sldId id="349" r:id="rId16"/>
    <p:sldId id="350" r:id="rId17"/>
    <p:sldId id="351" r:id="rId18"/>
    <p:sldId id="332" r:id="rId19"/>
    <p:sldId id="33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205" autoAdjust="0"/>
  </p:normalViewPr>
  <p:slideViewPr>
    <p:cSldViewPr snapToGrid="0">
      <p:cViewPr varScale="1">
        <p:scale>
          <a:sx n="91" d="100"/>
          <a:sy n="91" d="100"/>
        </p:scale>
        <p:origin x="322" y="77"/>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12/23/2023</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12/23/2023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a:lstStyle>
            <a:lvl1pP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a:lstStyle>
            <a:lvl1pPr algn="ct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dirty="0"/>
              <a:t>presentation title</a:t>
            </a:r>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8" name="Footer Placeholder 7">
            <a:extLst>
              <a:ext uri="{FF2B5EF4-FFF2-40B4-BE49-F238E27FC236}">
                <a16:creationId xmlns:a16="http://schemas.microsoft.com/office/drawing/2014/main" id="{A4DB0707-D3A6-4BF0-3225-EC3851AD7387}"/>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7" name="Footer Placeholder 6">
            <a:extLst>
              <a:ext uri="{FF2B5EF4-FFF2-40B4-BE49-F238E27FC236}">
                <a16:creationId xmlns:a16="http://schemas.microsoft.com/office/drawing/2014/main" id="{FFD67329-9F30-BEB7-31E2-FECA7FD59B06}"/>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60C67779-9FAD-3FE4-5C67-7E5313C03B45}"/>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A4125545-56D8-5212-AA45-63F7C1DBF101}"/>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
        <p:nvSpPr>
          <p:cNvPr id="25" name="Footer Placeholder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242952" y="1451496"/>
            <a:ext cx="1784352" cy="189457"/>
          </a:xfrm>
          <a:prstGeom prst="rect">
            <a:avLst/>
          </a:prstGeom>
        </p:spPr>
        <p:txBody>
          <a:bodyPr vert="horz" lIns="0" tIns="0" rIns="0" bIns="0" rtlCol="0" anchor="ctr"/>
          <a:lstStyle>
            <a:lvl1pPr algn="l">
              <a:defRPr sz="1200" cap="all" spc="100" baseline="0">
                <a:solidFill>
                  <a:schemeClr val="accent1"/>
                </a:solidFill>
                <a:latin typeface="Posterama" panose="020B0504020200020000" pitchFamily="34" charset="0"/>
              </a:defRPr>
            </a:lvl1pPr>
          </a:lstStyle>
          <a:p>
            <a:r>
              <a:rPr lang="en-US" dirty="0"/>
              <a:t>presentation title</a:t>
            </a:r>
          </a:p>
        </p:txBody>
      </p:sp>
      <p:cxnSp>
        <p:nvCxnSpPr>
          <p:cNvPr id="4" name="Straight Connector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healthyagingpoll.org/report/telehealth-use-among-older-adults-and-during-covid-19" TargetMode="External"/><Relationship Id="rId2" Type="http://schemas.openxmlformats.org/officeDocument/2006/relationships/image" Target="../media/image4.png"/><Relationship Id="rId1" Type="http://schemas.openxmlformats.org/officeDocument/2006/relationships/slideLayout" Target="../slideLayouts/slideLayout10.xml"/><Relationship Id="rId4" Type="http://schemas.openxmlformats.org/officeDocument/2006/relationships/hyperlink" Target="https://creativecommons.org/licenses/by-nc/3.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healthyagingpoll.org/reports-more/report/telehealth-use-among-older-adults-and-during-covid-19" TargetMode="External"/><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hyperlink" Target="https://www.peoplemattersglobal.com/article/employee-relations/why-telehealth-should-be-a-priority-for-hr-policy-framework-27868" TargetMode="External"/><Relationship Id="rId5" Type="http://schemas.openxmlformats.org/officeDocument/2006/relationships/image" Target="../media/image6.jpg"/><Relationship Id="rId4" Type="http://schemas.openxmlformats.org/officeDocument/2006/relationships/hyperlink" Target="https://creativecommons.org/licenses/by-nc/3.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8.xml"/><Relationship Id="rId5" Type="http://schemas.openxmlformats.org/officeDocument/2006/relationships/image" Target="../media/image10.jp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tri dish with some transparent capsules">
            <a:extLst>
              <a:ext uri="{FF2B5EF4-FFF2-40B4-BE49-F238E27FC236}">
                <a16:creationId xmlns:a16="http://schemas.microsoft.com/office/drawing/2014/main" id="{F8B829FC-0ACD-46C3-5D7E-74FB2C721D7D}"/>
              </a:ext>
            </a:extLst>
          </p:cNvPr>
          <p:cNvPicPr>
            <a:picLocks noGrp="1" noChangeAspect="1"/>
          </p:cNvPicPr>
          <p:nvPr>
            <p:ph type="pic" sz="quarter" idx="10"/>
          </p:nvPr>
        </p:nvPicPr>
        <p:blipFill>
          <a:blip r:embed="rId2">
            <a:alphaModFix amt="65000"/>
            <a:extLst>
              <a:ext uri="{28A0092B-C50C-407E-A947-70E740481C1C}">
                <a14:useLocalDpi xmlns:a14="http://schemas.microsoft.com/office/drawing/2010/main" val="0"/>
              </a:ext>
            </a:extLst>
          </a:blip>
          <a:srcRect/>
          <a:stretch>
            <a:fillRect/>
          </a:stretch>
        </p:blipFill>
        <p:spPr/>
      </p:pic>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HEALTH-SYNERGY</a:t>
            </a:r>
            <a:br>
              <a:rPr lang="en-US" dirty="0">
                <a:latin typeface="Cambria" panose="02040503050406030204" pitchFamily="18" charset="0"/>
                <a:ea typeface="Cambria" panose="02040503050406030204" pitchFamily="18" charset="0"/>
              </a:rPr>
            </a:br>
            <a:r>
              <a:rPr lang="en-US" sz="2800" dirty="0">
                <a:latin typeface="Cambria" panose="02040503050406030204" pitchFamily="18" charset="0"/>
                <a:ea typeface="Cambria" panose="02040503050406030204" pitchFamily="18" charset="0"/>
              </a:rPr>
              <a:t>(TELEHEALTH PLATFORM)</a:t>
            </a: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1060704" y="837640"/>
            <a:ext cx="3886200" cy="702159"/>
          </a:xfrm>
        </p:spPr>
        <p:txBody>
          <a:bodyPr/>
          <a:lstStyle/>
          <a:p>
            <a:r>
              <a:rPr lang="en-US" dirty="0"/>
              <a:t>CONTENTS</a:t>
            </a:r>
          </a:p>
        </p:txBody>
      </p:sp>
      <p:sp>
        <p:nvSpPr>
          <p:cNvPr id="5" name="Footer Placeholder 4">
            <a:extLst>
              <a:ext uri="{FF2B5EF4-FFF2-40B4-BE49-F238E27FC236}">
                <a16:creationId xmlns:a16="http://schemas.microsoft.com/office/drawing/2014/main" id="{DE9EDB55-C0CF-1610-24F0-07462C63BCEB}"/>
              </a:ext>
            </a:extLst>
          </p:cNvPr>
          <p:cNvSpPr>
            <a:spLocks noGrp="1"/>
          </p:cNvSpPr>
          <p:nvPr>
            <p:ph type="ftr" sz="quarter" idx="12"/>
          </p:nvPr>
        </p:nvSpPr>
        <p:spPr/>
        <p:txBody>
          <a:bodyPr/>
          <a:lstStyle/>
          <a:p>
            <a:r>
              <a:rPr lang="en-US" dirty="0"/>
              <a:t>HEALTH-SYNERGY </a:t>
            </a:r>
          </a:p>
        </p:txBody>
      </p:sp>
      <p:sp>
        <p:nvSpPr>
          <p:cNvPr id="4" name="Slide Number Placehold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a:lstStyle/>
          <a:p>
            <a:fld id="{75DF2D63-3FF5-D547-96B9-BE9CCD1ABA58}" type="slidenum">
              <a:rPr lang="en-US" smtClean="0"/>
              <a:pPr/>
              <a:t>2</a:t>
            </a:fld>
            <a:endParaRPr lang="en-US" dirty="0"/>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902328" y="2130804"/>
            <a:ext cx="3886200" cy="3976382"/>
          </a:xfrm>
        </p:spPr>
        <p:txBody>
          <a:bodyPr/>
          <a:lstStyle/>
          <a:p>
            <a:r>
              <a:rPr lang="en-US" sz="1600" dirty="0"/>
              <a:t>Introduction</a:t>
            </a:r>
          </a:p>
          <a:p>
            <a:r>
              <a:rPr lang="en-US" sz="1600" dirty="0"/>
              <a:t>STATICAL INSIGHTS</a:t>
            </a:r>
          </a:p>
          <a:p>
            <a:r>
              <a:rPr lang="en-US" sz="1600" dirty="0"/>
              <a:t>“WELCOME TO HELATH SYNERGY”</a:t>
            </a:r>
          </a:p>
          <a:p>
            <a:r>
              <a:rPr lang="en-US" sz="1600" dirty="0"/>
              <a:t>“BEHIND BUZZ”</a:t>
            </a:r>
          </a:p>
          <a:p>
            <a:r>
              <a:rPr lang="en-US" sz="1600" dirty="0"/>
              <a:t>PURPOSE</a:t>
            </a:r>
          </a:p>
          <a:p>
            <a:r>
              <a:rPr lang="en-US" sz="1600" dirty="0"/>
              <a:t>PROS AND CONS</a:t>
            </a:r>
          </a:p>
          <a:p>
            <a:r>
              <a:rPr lang="en-US" sz="1600" dirty="0"/>
              <a:t>BEHIND THE SCENES</a:t>
            </a:r>
          </a:p>
          <a:p>
            <a:r>
              <a:rPr lang="en-US" sz="1600" dirty="0"/>
              <a:t>BREAKING BARRIERS </a:t>
            </a:r>
          </a:p>
          <a:p>
            <a:endParaRPr lang="en-US" sz="1600" dirty="0"/>
          </a:p>
          <a:p>
            <a:r>
              <a:rPr lang="en-US" sz="1600" dirty="0"/>
              <a:t> </a:t>
            </a:r>
          </a:p>
          <a:p>
            <a:endParaRPr lang="en-US" sz="1600" dirty="0"/>
          </a:p>
          <a:p>
            <a:endParaRPr lang="en-US" dirty="0"/>
          </a:p>
          <a:p>
            <a:endParaRPr lang="en-US" dirty="0"/>
          </a:p>
          <a:p>
            <a:endParaRPr lang="en-US" dirty="0"/>
          </a:p>
          <a:p>
            <a:endParaRPr lang="en-US" dirty="0"/>
          </a:p>
          <a:p>
            <a:endParaRPr lang="en-US" dirty="0"/>
          </a:p>
        </p:txBody>
      </p:sp>
      <p:pic>
        <p:nvPicPr>
          <p:cNvPr id="8" name="Picture Placeholder 7" descr="Pipette diffusing dyes in flasks">
            <a:extLst>
              <a:ext uri="{FF2B5EF4-FFF2-40B4-BE49-F238E27FC236}">
                <a16:creationId xmlns:a16="http://schemas.microsoft.com/office/drawing/2014/main" id="{9DA934D8-2609-4227-78DF-CF8F07A2F9C7}"/>
              </a:ext>
            </a:extLst>
          </p:cNvPr>
          <p:cNvPicPr>
            <a:picLocks noGrp="1" noChangeAspect="1"/>
          </p:cNvPicPr>
          <p:nvPr>
            <p:ph type="pic" sz="quarter" idx="13"/>
          </p:nvPr>
        </p:nvPicPr>
        <p:blipFill rotWithShape="1">
          <a:blip r:embed="rId2">
            <a:alphaModFix/>
            <a:extLst>
              <a:ext uri="{28A0092B-C50C-407E-A947-70E740481C1C}">
                <a14:useLocalDpi xmlns:a14="http://schemas.microsoft.com/office/drawing/2010/main" val="0"/>
              </a:ext>
            </a:extLst>
          </a:blip>
          <a:srcRect t="79" b="79"/>
          <a:stretch/>
        </p:blipFill>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p:txBody>
          <a:bodyPr/>
          <a:lstStyle/>
          <a:p>
            <a:r>
              <a:rPr lang="en-US" dirty="0"/>
              <a:t>Introduction</a:t>
            </a:r>
          </a:p>
        </p:txBody>
      </p:sp>
      <p:sp>
        <p:nvSpPr>
          <p:cNvPr id="5" name="Footer Placeholder 4">
            <a:extLst>
              <a:ext uri="{FF2B5EF4-FFF2-40B4-BE49-F238E27FC236}">
                <a16:creationId xmlns:a16="http://schemas.microsoft.com/office/drawing/2014/main" id="{241D8BC6-DD9D-7F06-3B9F-9F2B462E4984}"/>
              </a:ext>
            </a:extLst>
          </p:cNvPr>
          <p:cNvSpPr>
            <a:spLocks noGrp="1"/>
          </p:cNvSpPr>
          <p:nvPr>
            <p:ph type="ftr" sz="quarter" idx="12"/>
          </p:nvPr>
        </p:nvSpPr>
        <p:spPr/>
        <p:txBody>
          <a:bodyPr/>
          <a:lstStyle/>
          <a:p>
            <a:r>
              <a:rPr lang="en-US" dirty="0"/>
              <a:t>HEALTH-SYNERGY</a:t>
            </a:r>
          </a:p>
        </p:txBody>
      </p:sp>
      <p:sp>
        <p:nvSpPr>
          <p:cNvPr id="4" name="Slide Number Placeholder 3">
            <a:extLst>
              <a:ext uri="{FF2B5EF4-FFF2-40B4-BE49-F238E27FC236}">
                <a16:creationId xmlns:a16="http://schemas.microsoft.com/office/drawing/2014/main" id="{B6586F16-C3E1-6E51-D140-EF50382CA456}"/>
              </a:ext>
            </a:extLst>
          </p:cNvPr>
          <p:cNvSpPr>
            <a:spLocks noGrp="1"/>
          </p:cNvSpPr>
          <p:nvPr>
            <p:ph type="sldNum" sz="quarter" idx="11"/>
          </p:nvPr>
        </p:nvSpPr>
        <p:spPr/>
        <p:txBody>
          <a:bodyPr/>
          <a:lstStyle/>
          <a:p>
            <a:fld id="{75DF2D63-3FF5-D547-96B9-BE9CCD1ABA58}" type="slidenum">
              <a:rPr lang="en-US" smtClean="0"/>
              <a:pPr/>
              <a:t>3</a:t>
            </a:fld>
            <a:endParaRPr lang="en-US" dirty="0"/>
          </a:p>
        </p:txBody>
      </p:sp>
      <p:pic>
        <p:nvPicPr>
          <p:cNvPr id="7" name="Picture Placeholder 6" descr="Pipette over three glass jars">
            <a:extLst>
              <a:ext uri="{FF2B5EF4-FFF2-40B4-BE49-F238E27FC236}">
                <a16:creationId xmlns:a16="http://schemas.microsoft.com/office/drawing/2014/main" id="{7FFC92DA-E590-4A49-8738-10A5D4DBBE6E}"/>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a:xfrm>
            <a:off x="1298575" y="1828800"/>
            <a:ext cx="3200400" cy="3200400"/>
          </a:xfrm>
          <a:custGeom>
            <a:avLst/>
            <a:gdLst>
              <a:gd name="connsiteX0" fmla="*/ 1600200 w 3200400"/>
              <a:gd name="connsiteY0" fmla="*/ 0 h 3200400"/>
              <a:gd name="connsiteX1" fmla="*/ 3200400 w 3200400"/>
              <a:gd name="connsiteY1" fmla="*/ 1600200 h 3200400"/>
              <a:gd name="connsiteX2" fmla="*/ 1600200 w 3200400"/>
              <a:gd name="connsiteY2" fmla="*/ 3200400 h 3200400"/>
              <a:gd name="connsiteX3" fmla="*/ 0 w 3200400"/>
              <a:gd name="connsiteY3" fmla="*/ 1600200 h 3200400"/>
              <a:gd name="connsiteX4" fmla="*/ 1600200 w 3200400"/>
              <a:gd name="connsiteY4" fmla="*/ 0 h 320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0" h="3200400">
                <a:moveTo>
                  <a:pt x="1600200" y="0"/>
                </a:moveTo>
                <a:cubicBezTo>
                  <a:pt x="2483966" y="0"/>
                  <a:pt x="3200400" y="716434"/>
                  <a:pt x="3200400" y="1600200"/>
                </a:cubicBezTo>
                <a:cubicBezTo>
                  <a:pt x="3200400" y="2483966"/>
                  <a:pt x="2483966" y="3200400"/>
                  <a:pt x="1600200" y="3200400"/>
                </a:cubicBezTo>
                <a:cubicBezTo>
                  <a:pt x="716434" y="3200400"/>
                  <a:pt x="0" y="2483966"/>
                  <a:pt x="0" y="1600200"/>
                </a:cubicBezTo>
                <a:cubicBezTo>
                  <a:pt x="0" y="716434"/>
                  <a:pt x="716434" y="0"/>
                  <a:pt x="1600200" y="0"/>
                </a:cubicBezTo>
                <a:close/>
              </a:path>
            </a:pathLst>
          </a:custGeom>
        </p:spPr>
      </p:pic>
      <p:sp>
        <p:nvSpPr>
          <p:cNvPr id="3" name="Content Placeholder 2">
            <a:extLst>
              <a:ext uri="{FF2B5EF4-FFF2-40B4-BE49-F238E27FC236}">
                <a16:creationId xmlns:a16="http://schemas.microsoft.com/office/drawing/2014/main" id="{77C9C890-ADC6-0AA7-BBC0-05E856AA7C3C}"/>
              </a:ext>
            </a:extLst>
          </p:cNvPr>
          <p:cNvSpPr>
            <a:spLocks noGrp="1"/>
          </p:cNvSpPr>
          <p:nvPr>
            <p:ph idx="1"/>
          </p:nvPr>
        </p:nvSpPr>
        <p:spPr>
          <a:xfrm>
            <a:off x="5449824" y="2533475"/>
            <a:ext cx="5760720" cy="3675301"/>
          </a:xfrm>
        </p:spPr>
        <p:txBody>
          <a:bodyPr/>
          <a:lstStyle/>
          <a:p>
            <a:pPr marL="0" indent="0">
              <a:lnSpc>
                <a:spcPts val="2400"/>
              </a:lnSpc>
              <a:buNone/>
            </a:pPr>
            <a:r>
              <a:rPr lang="en-US" dirty="0"/>
              <a:t>In this era, marked by technological advances and a growing emphasis on wellness of oneself, this platform stands as an intersection of healthcare and digital innovation</a:t>
            </a:r>
            <a:r>
              <a:rPr lang="en-US" dirty="0">
                <a:ea typeface="+mn-lt"/>
                <a:cs typeface="+mn-lt"/>
              </a:rPr>
              <a:t>.</a:t>
            </a:r>
            <a:r>
              <a:rPr lang="en-US" dirty="0"/>
              <a:t> This is an exploration into a pioneering telehealth platform that redefines how we tackle health concerns using at-home remedies tailored to individual needs.</a:t>
            </a:r>
          </a:p>
          <a:p>
            <a:pPr marL="0" indent="0">
              <a:lnSpc>
                <a:spcPts val="2400"/>
              </a:lnSpc>
              <a:buNone/>
            </a:pPr>
            <a:r>
              <a:rPr lang="en-US" dirty="0"/>
              <a:t>This report is an exploration into a pioneering telehealth platform that redefines how we tackle health concerns using at-home remedies tailored to individual needs.</a:t>
            </a:r>
          </a:p>
          <a:p>
            <a:pPr marL="0" indent="0">
              <a:lnSpc>
                <a:spcPts val="2400"/>
              </a:lnSpc>
              <a:buNone/>
            </a:pPr>
            <a:endParaRPr lang="en-US" sz="2000" spc="0" dirty="0">
              <a:ea typeface="+mn-lt"/>
              <a:cs typeface="+mn-lt"/>
            </a:endParaRPr>
          </a:p>
        </p:txBody>
      </p:sp>
    </p:spTree>
    <p:extLst>
      <p:ext uri="{BB962C8B-B14F-4D97-AF65-F5344CB8AC3E}">
        <p14:creationId xmlns:p14="http://schemas.microsoft.com/office/powerpoint/2010/main" val="281013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7A3A63-E691-72DA-3F93-A2A23C4E50A3}"/>
              </a:ext>
            </a:extLst>
          </p:cNvPr>
          <p:cNvSpPr>
            <a:spLocks noGrp="1"/>
          </p:cNvSpPr>
          <p:nvPr>
            <p:ph type="sldNum" sz="quarter" idx="10"/>
          </p:nvPr>
        </p:nvSpPr>
        <p:spPr/>
        <p:txBody>
          <a:bodyPr/>
          <a:lstStyle/>
          <a:p>
            <a:fld id="{75DF2D63-3FF5-D547-96B9-BE9CCD1ABA58}" type="slidenum">
              <a:rPr lang="en-US" smtClean="0"/>
              <a:pPr/>
              <a:t>4</a:t>
            </a:fld>
            <a:endParaRPr lang="en-US" dirty="0"/>
          </a:p>
        </p:txBody>
      </p:sp>
      <p:sp>
        <p:nvSpPr>
          <p:cNvPr id="5" name="Footer Placeholder 4">
            <a:extLst>
              <a:ext uri="{FF2B5EF4-FFF2-40B4-BE49-F238E27FC236}">
                <a16:creationId xmlns:a16="http://schemas.microsoft.com/office/drawing/2014/main" id="{9E340E2C-A970-34B5-1FCA-B294F5AB77F3}"/>
              </a:ext>
            </a:extLst>
          </p:cNvPr>
          <p:cNvSpPr>
            <a:spLocks noGrp="1"/>
          </p:cNvSpPr>
          <p:nvPr>
            <p:ph type="ftr" sz="quarter" idx="11"/>
          </p:nvPr>
        </p:nvSpPr>
        <p:spPr/>
        <p:txBody>
          <a:bodyPr/>
          <a:lstStyle/>
          <a:p>
            <a:r>
              <a:rPr lang="en-US" dirty="0"/>
              <a:t>HEALTH-SYNERGY</a:t>
            </a:r>
          </a:p>
        </p:txBody>
      </p:sp>
      <p:sp>
        <p:nvSpPr>
          <p:cNvPr id="6" name="Text Placeholder 5">
            <a:extLst>
              <a:ext uri="{FF2B5EF4-FFF2-40B4-BE49-F238E27FC236}">
                <a16:creationId xmlns:a16="http://schemas.microsoft.com/office/drawing/2014/main" id="{ECCCD9C5-13DE-F670-B359-48846B1BC1EF}"/>
              </a:ext>
            </a:extLst>
          </p:cNvPr>
          <p:cNvSpPr>
            <a:spLocks noGrp="1"/>
          </p:cNvSpPr>
          <p:nvPr>
            <p:ph type="body" sz="quarter" idx="16"/>
          </p:nvPr>
        </p:nvSpPr>
        <p:spPr>
          <a:xfrm>
            <a:off x="897118" y="1291903"/>
            <a:ext cx="10422148" cy="973123"/>
          </a:xfrm>
        </p:spPr>
        <p:txBody>
          <a:bodyPr/>
          <a:lstStyle/>
          <a:p>
            <a:r>
              <a:rPr lang="en-US" dirty="0">
                <a:latin typeface="Arial" panose="020B0604020202020204" pitchFamily="34" charset="0"/>
                <a:cs typeface="Arial" panose="020B0604020202020204" pitchFamily="34" charset="0"/>
              </a:rPr>
              <a:t>Telecommunication technologies in the healthcare industry are evolving like never before. Let us delve into some key insights of the telehealth and medicine market.</a:t>
            </a:r>
            <a:endParaRPr lang="en-IN"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A0EF6FB1-976C-A765-406A-BCD490D134AA}"/>
              </a:ext>
            </a:extLst>
          </p:cNvPr>
          <p:cNvSpPr>
            <a:spLocks noGrp="1"/>
          </p:cNvSpPr>
          <p:nvPr>
            <p:ph type="body" sz="quarter" idx="17"/>
          </p:nvPr>
        </p:nvSpPr>
        <p:spPr>
          <a:xfrm>
            <a:off x="1298447" y="3657601"/>
            <a:ext cx="4868804" cy="2667447"/>
          </a:xfrm>
        </p:spPr>
        <p:txBody>
          <a:bodyPr/>
          <a:lstStyle/>
          <a:p>
            <a:endParaRPr lang="en-US" sz="2000" dirty="0"/>
          </a:p>
          <a:p>
            <a:endParaRPr lang="en-US" sz="2000" dirty="0"/>
          </a:p>
          <a:p>
            <a:r>
              <a:rPr lang="en-US" sz="2000" dirty="0"/>
              <a:t>➢ Live video-conferencing </a:t>
            </a:r>
          </a:p>
          <a:p>
            <a:endParaRPr lang="en-US" sz="2000" dirty="0"/>
          </a:p>
          <a:p>
            <a:r>
              <a:rPr lang="en-US" sz="2000" dirty="0"/>
              <a:t>➢ Without the real-time intervention, the patient’s medical information is transmitted through E communication to the care-provider. </a:t>
            </a:r>
          </a:p>
          <a:p>
            <a:endParaRPr lang="en-US" sz="2000" dirty="0"/>
          </a:p>
          <a:p>
            <a:r>
              <a:rPr lang="en-US" sz="2000" dirty="0"/>
              <a:t>➢ Remote Patient Monitoring (RPM)</a:t>
            </a:r>
            <a:endParaRPr lang="en-IN" sz="2000" dirty="0"/>
          </a:p>
        </p:txBody>
      </p:sp>
      <p:sp>
        <p:nvSpPr>
          <p:cNvPr id="8" name="Text Placeholder 7">
            <a:extLst>
              <a:ext uri="{FF2B5EF4-FFF2-40B4-BE49-F238E27FC236}">
                <a16:creationId xmlns:a16="http://schemas.microsoft.com/office/drawing/2014/main" id="{95ED4991-9658-32FB-CAB1-1D39E84E11BE}"/>
              </a:ext>
            </a:extLst>
          </p:cNvPr>
          <p:cNvSpPr>
            <a:spLocks noGrp="1"/>
          </p:cNvSpPr>
          <p:nvPr>
            <p:ph type="body" sz="quarter" idx="18"/>
          </p:nvPr>
        </p:nvSpPr>
        <p:spPr>
          <a:xfrm>
            <a:off x="897118" y="532951"/>
            <a:ext cx="5270133" cy="758952"/>
          </a:xfrm>
        </p:spPr>
        <p:txBody>
          <a:bodyPr/>
          <a:lstStyle/>
          <a:p>
            <a:r>
              <a:rPr lang="en-IN" sz="3200" b="1" dirty="0">
                <a:latin typeface="Bahnschrift SemiBold" panose="020B0502040204020203" pitchFamily="34" charset="0"/>
              </a:rPr>
              <a:t>STATASTICAL INSIGHTS:-</a:t>
            </a:r>
          </a:p>
        </p:txBody>
      </p:sp>
      <p:sp>
        <p:nvSpPr>
          <p:cNvPr id="10" name="Text Placeholder 9">
            <a:extLst>
              <a:ext uri="{FF2B5EF4-FFF2-40B4-BE49-F238E27FC236}">
                <a16:creationId xmlns:a16="http://schemas.microsoft.com/office/drawing/2014/main" id="{4981770B-EA1D-AA53-13D6-B110A5C113FC}"/>
              </a:ext>
            </a:extLst>
          </p:cNvPr>
          <p:cNvSpPr>
            <a:spLocks noGrp="1"/>
          </p:cNvSpPr>
          <p:nvPr>
            <p:ph type="body" sz="quarter" idx="20"/>
          </p:nvPr>
        </p:nvSpPr>
        <p:spPr>
          <a:xfrm>
            <a:off x="1274062" y="2438401"/>
            <a:ext cx="5193850" cy="761999"/>
          </a:xfrm>
        </p:spPr>
        <p:txBody>
          <a:bodyPr/>
          <a:lstStyle/>
          <a:p>
            <a:r>
              <a:rPr lang="en-IN" sz="2000" b="1" dirty="0">
                <a:latin typeface="Dubai Medium" panose="020F0502020204030204" pitchFamily="34" charset="-78"/>
                <a:cs typeface="Dubai Medium" panose="020F0502020204030204" pitchFamily="34" charset="-78"/>
              </a:rPr>
              <a:t>Principle Telehealth </a:t>
            </a:r>
            <a:r>
              <a:rPr lang="en-IN" sz="2000" b="1" dirty="0" err="1">
                <a:latin typeface="Dubai Medium" panose="020F0502020204030204" pitchFamily="34" charset="-78"/>
                <a:cs typeface="Dubai Medium" panose="020F0502020204030204" pitchFamily="34" charset="-78"/>
              </a:rPr>
              <a:t>DomAINS</a:t>
            </a:r>
            <a:r>
              <a:rPr lang="en-IN" sz="2000" b="1" dirty="0">
                <a:latin typeface="Dubai Medium" panose="020F0502020204030204" pitchFamily="34" charset="-78"/>
                <a:cs typeface="Dubai Medium" panose="020F0502020204030204" pitchFamily="34" charset="-78"/>
              </a:rPr>
              <a:t> :-</a:t>
            </a:r>
            <a:r>
              <a:rPr lang="en-IN" dirty="0"/>
              <a:t> </a:t>
            </a:r>
          </a:p>
        </p:txBody>
      </p:sp>
      <p:sp>
        <p:nvSpPr>
          <p:cNvPr id="12" name="Text Placeholder 11">
            <a:extLst>
              <a:ext uri="{FF2B5EF4-FFF2-40B4-BE49-F238E27FC236}">
                <a16:creationId xmlns:a16="http://schemas.microsoft.com/office/drawing/2014/main" id="{13B61F5B-0CD6-F280-F54E-A5F72C540D31}"/>
              </a:ext>
            </a:extLst>
          </p:cNvPr>
          <p:cNvSpPr>
            <a:spLocks noGrp="1"/>
          </p:cNvSpPr>
          <p:nvPr>
            <p:ph type="body" sz="quarter" idx="22"/>
          </p:nvPr>
        </p:nvSpPr>
        <p:spPr/>
        <p:txBody>
          <a:bodyPr/>
          <a:lstStyle/>
          <a:p>
            <a:endParaRPr lang="en-IN"/>
          </a:p>
        </p:txBody>
      </p:sp>
      <p:sp>
        <p:nvSpPr>
          <p:cNvPr id="13" name="Text Placeholder 12">
            <a:extLst>
              <a:ext uri="{FF2B5EF4-FFF2-40B4-BE49-F238E27FC236}">
                <a16:creationId xmlns:a16="http://schemas.microsoft.com/office/drawing/2014/main" id="{D6DF32CA-1B61-9EFC-EC83-4E23186369D9}"/>
              </a:ext>
            </a:extLst>
          </p:cNvPr>
          <p:cNvSpPr>
            <a:spLocks noGrp="1"/>
          </p:cNvSpPr>
          <p:nvPr>
            <p:ph type="body" sz="quarter" idx="23"/>
          </p:nvPr>
        </p:nvSpPr>
        <p:spPr/>
        <p:txBody>
          <a:bodyPr/>
          <a:lstStyle/>
          <a:p>
            <a:endParaRPr lang="en-IN"/>
          </a:p>
        </p:txBody>
      </p:sp>
      <p:sp>
        <p:nvSpPr>
          <p:cNvPr id="14" name="Text Placeholder 13">
            <a:extLst>
              <a:ext uri="{FF2B5EF4-FFF2-40B4-BE49-F238E27FC236}">
                <a16:creationId xmlns:a16="http://schemas.microsoft.com/office/drawing/2014/main" id="{DCEB9877-E440-A5AA-00D4-B09500BAF753}"/>
              </a:ext>
            </a:extLst>
          </p:cNvPr>
          <p:cNvSpPr>
            <a:spLocks noGrp="1"/>
          </p:cNvSpPr>
          <p:nvPr>
            <p:ph type="body" sz="quarter" idx="28"/>
          </p:nvPr>
        </p:nvSpPr>
        <p:spPr/>
        <p:txBody>
          <a:bodyPr/>
          <a:lstStyle/>
          <a:p>
            <a:endParaRPr lang="en-IN"/>
          </a:p>
        </p:txBody>
      </p:sp>
      <p:sp>
        <p:nvSpPr>
          <p:cNvPr id="15" name="Text Placeholder 14">
            <a:extLst>
              <a:ext uri="{FF2B5EF4-FFF2-40B4-BE49-F238E27FC236}">
                <a16:creationId xmlns:a16="http://schemas.microsoft.com/office/drawing/2014/main" id="{4F21973A-DDFA-3CA7-26B0-2B1FF67CB786}"/>
              </a:ext>
            </a:extLst>
          </p:cNvPr>
          <p:cNvSpPr>
            <a:spLocks noGrp="1"/>
          </p:cNvSpPr>
          <p:nvPr>
            <p:ph type="body" sz="quarter" idx="29"/>
          </p:nvPr>
        </p:nvSpPr>
        <p:spPr/>
        <p:txBody>
          <a:bodyPr/>
          <a:lstStyle/>
          <a:p>
            <a:endParaRPr lang="en-IN"/>
          </a:p>
        </p:txBody>
      </p:sp>
      <p:pic>
        <p:nvPicPr>
          <p:cNvPr id="20" name="Picture 19">
            <a:extLst>
              <a:ext uri="{FF2B5EF4-FFF2-40B4-BE49-F238E27FC236}">
                <a16:creationId xmlns:a16="http://schemas.microsoft.com/office/drawing/2014/main" id="{7B96E6DC-A4B9-520F-2540-06B80B87935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778640" y="2345015"/>
            <a:ext cx="4228511" cy="3858936"/>
          </a:xfrm>
          <a:prstGeom prst="rect">
            <a:avLst/>
          </a:prstGeom>
        </p:spPr>
      </p:pic>
      <p:sp>
        <p:nvSpPr>
          <p:cNvPr id="21" name="TextBox 20">
            <a:extLst>
              <a:ext uri="{FF2B5EF4-FFF2-40B4-BE49-F238E27FC236}">
                <a16:creationId xmlns:a16="http://schemas.microsoft.com/office/drawing/2014/main" id="{031897B5-7D96-5A20-DBAC-3712D4BBEF0A}"/>
              </a:ext>
            </a:extLst>
          </p:cNvPr>
          <p:cNvSpPr txBox="1"/>
          <p:nvPr/>
        </p:nvSpPr>
        <p:spPr>
          <a:xfrm>
            <a:off x="6778641" y="8119500"/>
            <a:ext cx="1887860" cy="369332"/>
          </a:xfrm>
          <a:prstGeom prst="rect">
            <a:avLst/>
          </a:prstGeom>
          <a:noFill/>
        </p:spPr>
        <p:txBody>
          <a:bodyPr wrap="square" rtlCol="0">
            <a:spAutoFit/>
          </a:bodyPr>
          <a:lstStyle/>
          <a:p>
            <a:r>
              <a:rPr lang="en-IN" sz="900">
                <a:hlinkClick r:id="rId3" tooltip="https://www.healthyagingpoll.org/report/telehealth-use-among-older-adults-and-during-covid-19"/>
              </a:rPr>
              <a:t>This Photo</a:t>
            </a:r>
            <a:r>
              <a:rPr lang="en-IN" sz="900"/>
              <a:t> by Unknown Author is licensed under </a:t>
            </a:r>
            <a:r>
              <a:rPr lang="en-IN" sz="900">
                <a:hlinkClick r:id="rId4" tooltip="https://creativecommons.org/licenses/by-nc/3.0/"/>
              </a:rPr>
              <a:t>CC BY-NC</a:t>
            </a:r>
            <a:endParaRPr lang="en-IN" sz="900"/>
          </a:p>
        </p:txBody>
      </p:sp>
    </p:spTree>
    <p:extLst>
      <p:ext uri="{BB962C8B-B14F-4D97-AF65-F5344CB8AC3E}">
        <p14:creationId xmlns:p14="http://schemas.microsoft.com/office/powerpoint/2010/main" val="114652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8494D-9DCE-2B95-80DA-26BE8518C96B}"/>
              </a:ext>
            </a:extLst>
          </p:cNvPr>
          <p:cNvSpPr>
            <a:spLocks noGrp="1"/>
          </p:cNvSpPr>
          <p:nvPr>
            <p:ph idx="1"/>
          </p:nvPr>
        </p:nvSpPr>
        <p:spPr>
          <a:xfrm>
            <a:off x="1188720" y="1283786"/>
            <a:ext cx="4155067" cy="1039964"/>
          </a:xfrm>
        </p:spPr>
        <p:txBody>
          <a:bodyPr/>
          <a:lstStyle/>
          <a:p>
            <a:r>
              <a:rPr lang="en-US" sz="1800" dirty="0"/>
              <a:t>➢ Due to the pandemic, many telehealth providers have reported growth in their demand</a:t>
            </a:r>
            <a:endParaRPr lang="en-IN" sz="1800" dirty="0"/>
          </a:p>
        </p:txBody>
      </p:sp>
      <p:sp>
        <p:nvSpPr>
          <p:cNvPr id="4" name="Slide Number Placeholder 3">
            <a:extLst>
              <a:ext uri="{FF2B5EF4-FFF2-40B4-BE49-F238E27FC236}">
                <a16:creationId xmlns:a16="http://schemas.microsoft.com/office/drawing/2014/main" id="{75C64724-F06D-F298-C56F-1817BED1361F}"/>
              </a:ext>
            </a:extLst>
          </p:cNvPr>
          <p:cNvSpPr>
            <a:spLocks noGrp="1"/>
          </p:cNvSpPr>
          <p:nvPr>
            <p:ph type="sldNum" sz="quarter" idx="11"/>
          </p:nvPr>
        </p:nvSpPr>
        <p:spPr/>
        <p:txBody>
          <a:bodyPr/>
          <a:lstStyle/>
          <a:p>
            <a:fld id="{75DF2D63-3FF5-D547-96B9-BE9CCD1ABA58}" type="slidenum">
              <a:rPr lang="en-US" smtClean="0"/>
              <a:t>5</a:t>
            </a:fld>
            <a:endParaRPr lang="en-US" dirty="0"/>
          </a:p>
        </p:txBody>
      </p:sp>
      <p:sp>
        <p:nvSpPr>
          <p:cNvPr id="5" name="Footer Placeholder 4">
            <a:extLst>
              <a:ext uri="{FF2B5EF4-FFF2-40B4-BE49-F238E27FC236}">
                <a16:creationId xmlns:a16="http://schemas.microsoft.com/office/drawing/2014/main" id="{3B378F9F-3253-993B-0785-A083202418F2}"/>
              </a:ext>
            </a:extLst>
          </p:cNvPr>
          <p:cNvSpPr>
            <a:spLocks noGrp="1"/>
          </p:cNvSpPr>
          <p:nvPr>
            <p:ph type="ftr" sz="quarter" idx="12"/>
          </p:nvPr>
        </p:nvSpPr>
        <p:spPr/>
        <p:txBody>
          <a:bodyPr/>
          <a:lstStyle/>
          <a:p>
            <a:r>
              <a:rPr lang="en-US" dirty="0"/>
              <a:t>HEALTH-SYNERGY</a:t>
            </a:r>
          </a:p>
        </p:txBody>
      </p:sp>
      <p:sp>
        <p:nvSpPr>
          <p:cNvPr id="7" name="TextBox 6">
            <a:extLst>
              <a:ext uri="{FF2B5EF4-FFF2-40B4-BE49-F238E27FC236}">
                <a16:creationId xmlns:a16="http://schemas.microsoft.com/office/drawing/2014/main" id="{3D6ABAF5-6804-4708-6EF5-E8A5D5116CB2}"/>
              </a:ext>
            </a:extLst>
          </p:cNvPr>
          <p:cNvSpPr txBox="1"/>
          <p:nvPr/>
        </p:nvSpPr>
        <p:spPr>
          <a:xfrm>
            <a:off x="1266738" y="822121"/>
            <a:ext cx="3778407" cy="461665"/>
          </a:xfrm>
          <a:prstGeom prst="rect">
            <a:avLst/>
          </a:prstGeom>
          <a:noFill/>
        </p:spPr>
        <p:txBody>
          <a:bodyPr wrap="none" rtlCol="0">
            <a:spAutoFit/>
          </a:bodyPr>
          <a:lstStyle/>
          <a:p>
            <a:r>
              <a:rPr lang="en-IN" sz="2400" b="1" dirty="0">
                <a:latin typeface="Dubai Medium" panose="020B0603030403030204" pitchFamily="34" charset="-78"/>
                <a:cs typeface="Dubai Medium" panose="020B0603030403030204" pitchFamily="34" charset="-78"/>
              </a:rPr>
              <a:t>Telehealth during Pandemic:</a:t>
            </a:r>
          </a:p>
        </p:txBody>
      </p:sp>
      <p:pic>
        <p:nvPicPr>
          <p:cNvPr id="12" name="Picture 11">
            <a:extLst>
              <a:ext uri="{FF2B5EF4-FFF2-40B4-BE49-F238E27FC236}">
                <a16:creationId xmlns:a16="http://schemas.microsoft.com/office/drawing/2014/main" id="{DBC4E8C7-99F8-4966-1786-37D6D55D6D7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6000" y="430513"/>
            <a:ext cx="5541505" cy="2665025"/>
          </a:xfrm>
          <a:prstGeom prst="rect">
            <a:avLst/>
          </a:prstGeom>
        </p:spPr>
      </p:pic>
      <p:sp>
        <p:nvSpPr>
          <p:cNvPr id="13" name="TextBox 12">
            <a:extLst>
              <a:ext uri="{FF2B5EF4-FFF2-40B4-BE49-F238E27FC236}">
                <a16:creationId xmlns:a16="http://schemas.microsoft.com/office/drawing/2014/main" id="{4094BD99-CB3A-9C72-FBEC-A2F68530A63F}"/>
              </a:ext>
            </a:extLst>
          </p:cNvPr>
          <p:cNvSpPr txBox="1"/>
          <p:nvPr/>
        </p:nvSpPr>
        <p:spPr>
          <a:xfrm>
            <a:off x="6096000" y="3384983"/>
            <a:ext cx="5541505" cy="230832"/>
          </a:xfrm>
          <a:prstGeom prst="rect">
            <a:avLst/>
          </a:prstGeom>
          <a:noFill/>
        </p:spPr>
        <p:txBody>
          <a:bodyPr wrap="square" rtlCol="0">
            <a:spAutoFit/>
          </a:bodyPr>
          <a:lstStyle/>
          <a:p>
            <a:r>
              <a:rPr lang="en-IN" sz="900">
                <a:hlinkClick r:id="rId3" tooltip="https://www.healthyagingpoll.org/reports-more/report/telehealth-use-among-older-adults-and-during-covid-19"/>
              </a:rPr>
              <a:t>This Photo</a:t>
            </a:r>
            <a:r>
              <a:rPr lang="en-IN" sz="900"/>
              <a:t> by Unknown Author is licensed under </a:t>
            </a:r>
            <a:r>
              <a:rPr lang="en-IN" sz="900">
                <a:hlinkClick r:id="rId4" tooltip="https://creativecommons.org/licenses/by-nc/3.0/"/>
              </a:rPr>
              <a:t>CC BY-NC</a:t>
            </a:r>
            <a:endParaRPr lang="en-IN" sz="900"/>
          </a:p>
        </p:txBody>
      </p:sp>
      <p:sp>
        <p:nvSpPr>
          <p:cNvPr id="14" name="TextBox 13">
            <a:extLst>
              <a:ext uri="{FF2B5EF4-FFF2-40B4-BE49-F238E27FC236}">
                <a16:creationId xmlns:a16="http://schemas.microsoft.com/office/drawing/2014/main" id="{BB5E6E47-A69B-E0D0-51D1-9FD2A1E74F47}"/>
              </a:ext>
            </a:extLst>
          </p:cNvPr>
          <p:cNvSpPr txBox="1"/>
          <p:nvPr/>
        </p:nvSpPr>
        <p:spPr>
          <a:xfrm>
            <a:off x="1337847" y="2630084"/>
            <a:ext cx="3636188" cy="461665"/>
          </a:xfrm>
          <a:prstGeom prst="rect">
            <a:avLst/>
          </a:prstGeom>
          <a:noFill/>
        </p:spPr>
        <p:txBody>
          <a:bodyPr wrap="none" rtlCol="0">
            <a:spAutoFit/>
          </a:bodyPr>
          <a:lstStyle/>
          <a:p>
            <a:r>
              <a:rPr lang="en-IN" sz="2400" b="1" dirty="0">
                <a:latin typeface="Dubai Medium" panose="020B0603030403030204" pitchFamily="34" charset="-78"/>
                <a:cs typeface="Dubai Medium" panose="020B0603030403030204" pitchFamily="34" charset="-78"/>
              </a:rPr>
              <a:t>Purpose of telehealth app:</a:t>
            </a:r>
          </a:p>
        </p:txBody>
      </p:sp>
      <p:sp>
        <p:nvSpPr>
          <p:cNvPr id="15" name="TextBox 14">
            <a:extLst>
              <a:ext uri="{FF2B5EF4-FFF2-40B4-BE49-F238E27FC236}">
                <a16:creationId xmlns:a16="http://schemas.microsoft.com/office/drawing/2014/main" id="{CDE29E01-BA6A-25D2-F48E-FCE6F50A0EBE}"/>
              </a:ext>
            </a:extLst>
          </p:cNvPr>
          <p:cNvSpPr txBox="1"/>
          <p:nvPr/>
        </p:nvSpPr>
        <p:spPr>
          <a:xfrm>
            <a:off x="1408957" y="3184888"/>
            <a:ext cx="3636188" cy="2308324"/>
          </a:xfrm>
          <a:prstGeom prst="rect">
            <a:avLst/>
          </a:prstGeom>
          <a:noFill/>
        </p:spPr>
        <p:txBody>
          <a:bodyPr wrap="square" rtlCol="0">
            <a:spAutoFit/>
          </a:bodyPr>
          <a:lstStyle/>
          <a:p>
            <a:r>
              <a:rPr lang="en-US" dirty="0"/>
              <a:t>According to the Telehealth Index: 2019 Consumer Survey, about 66% of patients are willing to use virtual care, and 8% have tried it. Among patients who are willing to use connected health,</a:t>
            </a:r>
          </a:p>
          <a:p>
            <a:r>
              <a:rPr lang="en-US" dirty="0"/>
              <a:t> ▪ 61%; use it for convenience and faster service, and </a:t>
            </a:r>
          </a:p>
          <a:p>
            <a:r>
              <a:rPr lang="en-US" dirty="0"/>
              <a:t>▪ 54%; use it to save money. </a:t>
            </a:r>
            <a:endParaRPr lang="en-IN" dirty="0"/>
          </a:p>
        </p:txBody>
      </p:sp>
      <p:pic>
        <p:nvPicPr>
          <p:cNvPr id="20" name="Picture 19">
            <a:extLst>
              <a:ext uri="{FF2B5EF4-FFF2-40B4-BE49-F238E27FC236}">
                <a16:creationId xmlns:a16="http://schemas.microsoft.com/office/drawing/2014/main" id="{D8BC1898-4516-3EE5-F618-887E9309CF6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693905" y="3184888"/>
            <a:ext cx="5943600" cy="3343275"/>
          </a:xfrm>
          <a:prstGeom prst="rect">
            <a:avLst/>
          </a:prstGeom>
        </p:spPr>
      </p:pic>
    </p:spTree>
    <p:extLst>
      <p:ext uri="{BB962C8B-B14F-4D97-AF65-F5344CB8AC3E}">
        <p14:creationId xmlns:p14="http://schemas.microsoft.com/office/powerpoint/2010/main" val="1870297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5A875-0116-83B5-FF4B-481A6846A71A}"/>
              </a:ext>
            </a:extLst>
          </p:cNvPr>
          <p:cNvSpPr>
            <a:spLocks noGrp="1"/>
          </p:cNvSpPr>
          <p:nvPr>
            <p:ph type="title"/>
          </p:nvPr>
        </p:nvSpPr>
        <p:spPr>
          <a:xfrm>
            <a:off x="1188720" y="609600"/>
            <a:ext cx="9829800" cy="707472"/>
          </a:xfrm>
        </p:spPr>
        <p:txBody>
          <a:bodyPr/>
          <a:lstStyle/>
          <a:p>
            <a:r>
              <a:rPr lang="en-IN" sz="4000" b="1" dirty="0">
                <a:latin typeface="Aptos" panose="020B0004020202020204" pitchFamily="34" charset="0"/>
              </a:rPr>
              <a:t>TELEHEALTH PLATFORM</a:t>
            </a:r>
            <a:r>
              <a:rPr lang="en-IN" sz="4000" dirty="0"/>
              <a:t> </a:t>
            </a:r>
          </a:p>
        </p:txBody>
      </p:sp>
      <p:sp>
        <p:nvSpPr>
          <p:cNvPr id="3" name="Content Placeholder 2">
            <a:extLst>
              <a:ext uri="{FF2B5EF4-FFF2-40B4-BE49-F238E27FC236}">
                <a16:creationId xmlns:a16="http://schemas.microsoft.com/office/drawing/2014/main" id="{CDBE9CE2-15CB-395B-F90E-F907B1840090}"/>
              </a:ext>
            </a:extLst>
          </p:cNvPr>
          <p:cNvSpPr>
            <a:spLocks noGrp="1"/>
          </p:cNvSpPr>
          <p:nvPr>
            <p:ph idx="1"/>
          </p:nvPr>
        </p:nvSpPr>
        <p:spPr>
          <a:xfrm>
            <a:off x="1188720" y="1746504"/>
            <a:ext cx="9829800" cy="1533591"/>
          </a:xfrm>
        </p:spPr>
        <p:txBody>
          <a:bodyPr/>
          <a:lstStyle/>
          <a:p>
            <a:r>
              <a:rPr lang="en-US" b="1" dirty="0">
                <a:latin typeface="Bahnschrift" panose="020B0502040204020203" pitchFamily="34" charset="0"/>
              </a:rPr>
              <a:t>Welcome to Health Synergy – Your Personalized Wellness Journey</a:t>
            </a:r>
          </a:p>
          <a:p>
            <a:r>
              <a:rPr lang="en-US" dirty="0"/>
              <a:t> At Health Synergy, we redefine healthcare because your well-being is our top-most priority. Our telehealth and medicine platform not only stands for treating symptoms; it's a holistic experience tailored to help you on your journey to optimal health.</a:t>
            </a:r>
          </a:p>
          <a:p>
            <a:endParaRPr lang="en-IN" dirty="0"/>
          </a:p>
        </p:txBody>
      </p:sp>
      <p:sp>
        <p:nvSpPr>
          <p:cNvPr id="4" name="Slide Number Placeholder 3">
            <a:extLst>
              <a:ext uri="{FF2B5EF4-FFF2-40B4-BE49-F238E27FC236}">
                <a16:creationId xmlns:a16="http://schemas.microsoft.com/office/drawing/2014/main" id="{E0021D42-9A06-ACF7-9C95-D41F52023BC9}"/>
              </a:ext>
            </a:extLst>
          </p:cNvPr>
          <p:cNvSpPr>
            <a:spLocks noGrp="1"/>
          </p:cNvSpPr>
          <p:nvPr>
            <p:ph type="sldNum" sz="quarter" idx="11"/>
          </p:nvPr>
        </p:nvSpPr>
        <p:spPr/>
        <p:txBody>
          <a:bodyPr/>
          <a:lstStyle/>
          <a:p>
            <a:fld id="{75DF2D63-3FF5-D547-96B9-BE9CCD1ABA58}" type="slidenum">
              <a:rPr lang="en-US" smtClean="0"/>
              <a:t>6</a:t>
            </a:fld>
            <a:endParaRPr lang="en-US" dirty="0"/>
          </a:p>
        </p:txBody>
      </p:sp>
      <p:sp>
        <p:nvSpPr>
          <p:cNvPr id="5" name="Footer Placeholder 4">
            <a:extLst>
              <a:ext uri="{FF2B5EF4-FFF2-40B4-BE49-F238E27FC236}">
                <a16:creationId xmlns:a16="http://schemas.microsoft.com/office/drawing/2014/main" id="{14446D00-D61E-96E0-BB6E-356907CB7E15}"/>
              </a:ext>
            </a:extLst>
          </p:cNvPr>
          <p:cNvSpPr>
            <a:spLocks noGrp="1"/>
          </p:cNvSpPr>
          <p:nvPr>
            <p:ph type="ftr" sz="quarter" idx="12"/>
          </p:nvPr>
        </p:nvSpPr>
        <p:spPr/>
        <p:txBody>
          <a:bodyPr/>
          <a:lstStyle/>
          <a:p>
            <a:r>
              <a:rPr lang="en-US" dirty="0"/>
              <a:t>HEALTH-SYNERGY</a:t>
            </a:r>
          </a:p>
        </p:txBody>
      </p:sp>
      <p:sp>
        <p:nvSpPr>
          <p:cNvPr id="6" name="TextBox 5">
            <a:extLst>
              <a:ext uri="{FF2B5EF4-FFF2-40B4-BE49-F238E27FC236}">
                <a16:creationId xmlns:a16="http://schemas.microsoft.com/office/drawing/2014/main" id="{59AA7B5A-A9F2-3AF0-C4E5-E010C0447518}"/>
              </a:ext>
            </a:extLst>
          </p:cNvPr>
          <p:cNvSpPr txBox="1"/>
          <p:nvPr/>
        </p:nvSpPr>
        <p:spPr>
          <a:xfrm>
            <a:off x="1181868" y="3280095"/>
            <a:ext cx="10126491" cy="461665"/>
          </a:xfrm>
          <a:prstGeom prst="rect">
            <a:avLst/>
          </a:prstGeom>
          <a:noFill/>
        </p:spPr>
        <p:txBody>
          <a:bodyPr wrap="square" rtlCol="0">
            <a:spAutoFit/>
          </a:bodyPr>
          <a:lstStyle/>
          <a:p>
            <a:pPr algn="ctr"/>
            <a:r>
              <a:rPr lang="en-IN" sz="2400" b="1" dirty="0">
                <a:latin typeface="Arial" panose="020B0604020202020204" pitchFamily="34" charset="0"/>
                <a:cs typeface="Arial" panose="020B0604020202020204" pitchFamily="34" charset="0"/>
              </a:rPr>
              <a:t>How It Works?</a:t>
            </a:r>
          </a:p>
        </p:txBody>
      </p:sp>
      <p:sp>
        <p:nvSpPr>
          <p:cNvPr id="7" name="TextBox 6">
            <a:extLst>
              <a:ext uri="{FF2B5EF4-FFF2-40B4-BE49-F238E27FC236}">
                <a16:creationId xmlns:a16="http://schemas.microsoft.com/office/drawing/2014/main" id="{5EDCECA8-1D22-F63D-5F9A-A4886B65AE47}"/>
              </a:ext>
            </a:extLst>
          </p:cNvPr>
          <p:cNvSpPr txBox="1"/>
          <p:nvPr/>
        </p:nvSpPr>
        <p:spPr>
          <a:xfrm>
            <a:off x="1333851" y="4001549"/>
            <a:ext cx="2558641" cy="2339102"/>
          </a:xfrm>
          <a:prstGeom prst="rect">
            <a:avLst/>
          </a:prstGeom>
          <a:noFill/>
        </p:spPr>
        <p:txBody>
          <a:bodyPr wrap="square" rtlCol="0">
            <a:spAutoFit/>
          </a:bodyPr>
          <a:lstStyle/>
          <a:p>
            <a:pPr algn="ctr"/>
            <a:r>
              <a:rPr lang="en-US" sz="2000" b="1" dirty="0">
                <a:latin typeface="Aptos" panose="020B0004020202020204" pitchFamily="34" charset="0"/>
              </a:rPr>
              <a:t>Symptom Analysis </a:t>
            </a:r>
          </a:p>
          <a:p>
            <a:r>
              <a:rPr lang="en-US" dirty="0"/>
              <a:t>~ Begin by inputting your symptoms into our website . ~ We dive deep into the problem , providing a comprehensive analysis to understand your unique health profile.</a:t>
            </a:r>
            <a:endParaRPr lang="en-IN" dirty="0"/>
          </a:p>
        </p:txBody>
      </p:sp>
      <p:sp>
        <p:nvSpPr>
          <p:cNvPr id="8" name="TextBox 7">
            <a:extLst>
              <a:ext uri="{FF2B5EF4-FFF2-40B4-BE49-F238E27FC236}">
                <a16:creationId xmlns:a16="http://schemas.microsoft.com/office/drawing/2014/main" id="{BE8380E5-1006-A6F9-EB4B-41FA334796A9}"/>
              </a:ext>
            </a:extLst>
          </p:cNvPr>
          <p:cNvSpPr txBox="1"/>
          <p:nvPr/>
        </p:nvSpPr>
        <p:spPr>
          <a:xfrm>
            <a:off x="4746808" y="4001549"/>
            <a:ext cx="2996610" cy="1508105"/>
          </a:xfrm>
          <a:prstGeom prst="rect">
            <a:avLst/>
          </a:prstGeom>
          <a:noFill/>
        </p:spPr>
        <p:txBody>
          <a:bodyPr wrap="square" rtlCol="0">
            <a:spAutoFit/>
          </a:bodyPr>
          <a:lstStyle/>
          <a:p>
            <a:pPr algn="ctr"/>
            <a:r>
              <a:rPr lang="en-US" sz="2000" b="1" dirty="0">
                <a:latin typeface="Aptos" panose="020B0004020202020204" pitchFamily="34" charset="0"/>
              </a:rPr>
              <a:t>Diet Chart Precision</a:t>
            </a:r>
          </a:p>
          <a:p>
            <a:r>
              <a:rPr lang="en-US" dirty="0"/>
              <a:t> ~ Our nutritionists craft patient-catered diet charts based on your health goals, preferences, and requirements.</a:t>
            </a:r>
            <a:endParaRPr lang="en-IN" dirty="0"/>
          </a:p>
        </p:txBody>
      </p:sp>
      <p:sp>
        <p:nvSpPr>
          <p:cNvPr id="9" name="TextBox 8">
            <a:extLst>
              <a:ext uri="{FF2B5EF4-FFF2-40B4-BE49-F238E27FC236}">
                <a16:creationId xmlns:a16="http://schemas.microsoft.com/office/drawing/2014/main" id="{215F278D-E4D4-9F48-1F80-510FEED58468}"/>
              </a:ext>
            </a:extLst>
          </p:cNvPr>
          <p:cNvSpPr txBox="1"/>
          <p:nvPr/>
        </p:nvSpPr>
        <p:spPr>
          <a:xfrm>
            <a:off x="8774766" y="4001549"/>
            <a:ext cx="2996610" cy="2369880"/>
          </a:xfrm>
          <a:prstGeom prst="rect">
            <a:avLst/>
          </a:prstGeom>
          <a:noFill/>
        </p:spPr>
        <p:txBody>
          <a:bodyPr wrap="square" rtlCol="0">
            <a:spAutoFit/>
          </a:bodyPr>
          <a:lstStyle/>
          <a:p>
            <a:pPr algn="ctr"/>
            <a:r>
              <a:rPr lang="en-US" sz="2000" b="1" dirty="0">
                <a:latin typeface="Aptos" panose="020B0004020202020204" pitchFamily="34" charset="0"/>
              </a:rPr>
              <a:t>Guided Exercise Routines</a:t>
            </a:r>
          </a:p>
          <a:p>
            <a:r>
              <a:rPr lang="en-US" dirty="0"/>
              <a:t> ~ Elevate your fitness with top-notch exercise routines. Whether you're a beginner or a fitness enthusiast, our platform guides you through workouts designed exclusively for you</a:t>
            </a:r>
            <a:endParaRPr lang="en-IN" dirty="0"/>
          </a:p>
        </p:txBody>
      </p:sp>
    </p:spTree>
    <p:extLst>
      <p:ext uri="{BB962C8B-B14F-4D97-AF65-F5344CB8AC3E}">
        <p14:creationId xmlns:p14="http://schemas.microsoft.com/office/powerpoint/2010/main" val="110555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D937A-9767-8ABB-66B5-41EF330ACFE5}"/>
              </a:ext>
            </a:extLst>
          </p:cNvPr>
          <p:cNvSpPr>
            <a:spLocks noGrp="1"/>
          </p:cNvSpPr>
          <p:nvPr>
            <p:ph type="title"/>
          </p:nvPr>
        </p:nvSpPr>
        <p:spPr>
          <a:xfrm>
            <a:off x="1185672" y="970327"/>
            <a:ext cx="10058400" cy="682305"/>
          </a:xfrm>
        </p:spPr>
        <p:txBody>
          <a:bodyPr/>
          <a:lstStyle/>
          <a:p>
            <a:r>
              <a:rPr lang="en-IN" sz="3200" dirty="0">
                <a:latin typeface="Dubai Medium" panose="020B0603030403030204" pitchFamily="34" charset="-78"/>
                <a:cs typeface="Dubai Medium" panose="020B0603030403030204" pitchFamily="34" charset="-78"/>
              </a:rPr>
              <a:t>Why Health Synergy?</a:t>
            </a:r>
          </a:p>
        </p:txBody>
      </p:sp>
      <p:sp>
        <p:nvSpPr>
          <p:cNvPr id="3" name="Content Placeholder 2">
            <a:extLst>
              <a:ext uri="{FF2B5EF4-FFF2-40B4-BE49-F238E27FC236}">
                <a16:creationId xmlns:a16="http://schemas.microsoft.com/office/drawing/2014/main" id="{1AC48967-9B18-D659-32E9-88FF860EF933}"/>
              </a:ext>
            </a:extLst>
          </p:cNvPr>
          <p:cNvSpPr>
            <a:spLocks noGrp="1"/>
          </p:cNvSpPr>
          <p:nvPr>
            <p:ph idx="1"/>
          </p:nvPr>
        </p:nvSpPr>
        <p:spPr>
          <a:xfrm>
            <a:off x="1185672" y="2273417"/>
            <a:ext cx="9820656" cy="3422707"/>
          </a:xfrm>
        </p:spPr>
        <p:txBody>
          <a:bodyPr/>
          <a:lstStyle/>
          <a:p>
            <a:r>
              <a:rPr lang="en-US" b="1" dirty="0">
                <a:latin typeface="Aptos" panose="020B0004020202020204" pitchFamily="34" charset="0"/>
              </a:rPr>
              <a:t>Holistic Approach: -</a:t>
            </a:r>
            <a:r>
              <a:rPr lang="en-US" dirty="0"/>
              <a:t> Addresses the root of the issue, not just the symptom. </a:t>
            </a:r>
            <a:endParaRPr lang="en-US" b="1" dirty="0"/>
          </a:p>
          <a:p>
            <a:r>
              <a:rPr lang="en-US" b="1" dirty="0">
                <a:latin typeface="Aptos" panose="020B0004020202020204" pitchFamily="34" charset="0"/>
              </a:rPr>
              <a:t>Personalized Care: - </a:t>
            </a:r>
            <a:r>
              <a:rPr lang="en-US" dirty="0"/>
              <a:t>Designed to your unique health profile and goals. </a:t>
            </a:r>
          </a:p>
          <a:p>
            <a:r>
              <a:rPr lang="en-US" b="1" dirty="0">
                <a:latin typeface="Aptos" panose="020B0004020202020204" pitchFamily="34" charset="0"/>
              </a:rPr>
              <a:t>Accessible Wellness: -</a:t>
            </a:r>
            <a:r>
              <a:rPr lang="en-US" dirty="0">
                <a:latin typeface="Aptos" panose="020B0004020202020204" pitchFamily="34" charset="0"/>
              </a:rPr>
              <a:t> </a:t>
            </a:r>
            <a:r>
              <a:rPr lang="en-US" dirty="0"/>
              <a:t>Get healthier from anywhere, at any time. One can access our website irrespective of factors like time, geographical area. </a:t>
            </a:r>
          </a:p>
          <a:p>
            <a:r>
              <a:rPr lang="en-US" b="1" dirty="0">
                <a:latin typeface="Aptos" panose="020B0004020202020204" pitchFamily="34" charset="0"/>
              </a:rPr>
              <a:t>Your Wellness, Your Way! </a:t>
            </a:r>
          </a:p>
          <a:p>
            <a:r>
              <a:rPr lang="en-US" dirty="0"/>
              <a:t>Health-Synergy is not just a platform, it’s a partner in your wellness journey. Take charge of your health today and embark on a path to a healthier, happier you.</a:t>
            </a:r>
            <a:endParaRPr lang="en-IN" dirty="0"/>
          </a:p>
        </p:txBody>
      </p:sp>
      <p:sp>
        <p:nvSpPr>
          <p:cNvPr id="4" name="Slide Number Placeholder 3">
            <a:extLst>
              <a:ext uri="{FF2B5EF4-FFF2-40B4-BE49-F238E27FC236}">
                <a16:creationId xmlns:a16="http://schemas.microsoft.com/office/drawing/2014/main" id="{EB4B355A-5C95-4BD2-FC16-2BFA5654A93E}"/>
              </a:ext>
            </a:extLst>
          </p:cNvPr>
          <p:cNvSpPr>
            <a:spLocks noGrp="1"/>
          </p:cNvSpPr>
          <p:nvPr>
            <p:ph type="sldNum" sz="quarter" idx="11"/>
          </p:nvPr>
        </p:nvSpPr>
        <p:spPr/>
        <p:txBody>
          <a:bodyPr/>
          <a:lstStyle/>
          <a:p>
            <a:fld id="{75DF2D63-3FF5-D547-96B9-BE9CCD1ABA58}" type="slidenum">
              <a:rPr lang="en-US" smtClean="0"/>
              <a:t>7</a:t>
            </a:fld>
            <a:endParaRPr lang="en-US" dirty="0"/>
          </a:p>
        </p:txBody>
      </p:sp>
      <p:sp>
        <p:nvSpPr>
          <p:cNvPr id="5" name="Footer Placeholder 4">
            <a:extLst>
              <a:ext uri="{FF2B5EF4-FFF2-40B4-BE49-F238E27FC236}">
                <a16:creationId xmlns:a16="http://schemas.microsoft.com/office/drawing/2014/main" id="{FC74DD7A-CCE2-9691-179C-24A8F0C58EDA}"/>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2460466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EAAB-9EB7-8993-D8E1-148A0BAD2C41}"/>
              </a:ext>
            </a:extLst>
          </p:cNvPr>
          <p:cNvSpPr>
            <a:spLocks noGrp="1"/>
          </p:cNvSpPr>
          <p:nvPr>
            <p:ph type="title"/>
          </p:nvPr>
        </p:nvSpPr>
        <p:spPr>
          <a:xfrm>
            <a:off x="1295399" y="209726"/>
            <a:ext cx="10058400" cy="981512"/>
          </a:xfrm>
        </p:spPr>
        <p:txBody>
          <a:bodyPr/>
          <a:lstStyle/>
          <a:p>
            <a:pPr algn="ctr"/>
            <a:r>
              <a:rPr lang="en-US" sz="3200" b="1" dirty="0">
                <a:latin typeface="Dubai Medium" panose="020B0603030403030204" pitchFamily="34" charset="-78"/>
                <a:cs typeface="Dubai Medium" panose="020B0603030403030204" pitchFamily="34" charset="-78"/>
              </a:rPr>
              <a:t>“BEYOND THE BUZZ” </a:t>
            </a:r>
            <a:br>
              <a:rPr lang="en-US" sz="2000" dirty="0"/>
            </a:br>
            <a:br>
              <a:rPr lang="en-US" sz="2000" dirty="0"/>
            </a:br>
            <a:r>
              <a:rPr lang="en-US" sz="1800" b="1" dirty="0">
                <a:latin typeface="Bahnschrift" panose="020B0502040204020203" pitchFamily="34" charset="0"/>
              </a:rPr>
              <a:t>What Sets Our Website Apart in a Crowded Digital Landscape</a:t>
            </a:r>
            <a:endParaRPr lang="en-IN" sz="1800"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7C36A2C4-780E-352E-98B2-293D6C8C3997}"/>
              </a:ext>
            </a:extLst>
          </p:cNvPr>
          <p:cNvSpPr>
            <a:spLocks noGrp="1"/>
          </p:cNvSpPr>
          <p:nvPr>
            <p:ph idx="1"/>
          </p:nvPr>
        </p:nvSpPr>
        <p:spPr>
          <a:xfrm>
            <a:off x="1295400" y="1367406"/>
            <a:ext cx="9820656" cy="4841083"/>
          </a:xfrm>
        </p:spPr>
        <p:txBody>
          <a:bodyPr/>
          <a:lstStyle/>
          <a:p>
            <a:r>
              <a:rPr lang="en-US" sz="1600" b="1" dirty="0">
                <a:latin typeface="Aptos" panose="020B0004020202020204" pitchFamily="34" charset="0"/>
              </a:rPr>
              <a:t>Holistic Approach to Health:</a:t>
            </a:r>
            <a:r>
              <a:rPr lang="en-US" sz="1600" dirty="0"/>
              <a:t> Our platform integrates a comprehensive approach, offering not only telehealth services but also personalized recommendations for diet, exercise, and holistic wellness. These features collectively highlight the holistic approach. </a:t>
            </a:r>
          </a:p>
          <a:p>
            <a:r>
              <a:rPr lang="en-US" sz="1600" b="1" dirty="0">
                <a:latin typeface="Aptos" panose="020B0004020202020204" pitchFamily="34" charset="0"/>
              </a:rPr>
              <a:t>Personalization and Customization:</a:t>
            </a:r>
            <a:r>
              <a:rPr lang="en-US" sz="1600" dirty="0"/>
              <a:t> Our website provides highly personalized recommendations based on individual health profiles, preferences, and goals. Often users appreciate custom-made solutions that meet their unique needs.</a:t>
            </a:r>
          </a:p>
          <a:p>
            <a:r>
              <a:rPr lang="en-US" sz="1600" b="1" dirty="0">
                <a:latin typeface="Aptos" panose="020B0004020202020204" pitchFamily="34" charset="0"/>
              </a:rPr>
              <a:t>User-Friendly Interface: </a:t>
            </a:r>
            <a:r>
              <a:rPr lang="en-US" sz="1600" dirty="0"/>
              <a:t>We ensure to provide an intuitive and user-friendly interface. Easy navigation, clear instructions, and seamless user experience contribute to user satisfaction and can set our platform apart. </a:t>
            </a:r>
          </a:p>
          <a:p>
            <a:r>
              <a:rPr lang="en-US" sz="1600" b="1" dirty="0">
                <a:latin typeface="Aptos" panose="020B0004020202020204" pitchFamily="34" charset="0"/>
              </a:rPr>
              <a:t>Accessible and Inclusive: </a:t>
            </a:r>
            <a:r>
              <a:rPr lang="en-US" sz="1600" dirty="0"/>
              <a:t>We plan to establish this website and ensure accessibility to rural areas. Our platform addresses the needs of individuals in rural or underserved areas. It would also meet the needs of users with varying levels of technological literacy. </a:t>
            </a:r>
          </a:p>
          <a:p>
            <a:r>
              <a:rPr lang="en-US" sz="1600" b="1" dirty="0">
                <a:latin typeface="Aptos" panose="020B0004020202020204" pitchFamily="34" charset="0"/>
              </a:rPr>
              <a:t>Innovative Technology: </a:t>
            </a:r>
            <a:r>
              <a:rPr lang="en-US" sz="1600" dirty="0"/>
              <a:t>Our platform incorporates innovative technologies, such as advanced symptom analysis tools, AI driven recommendations, or telehealth advancements, that enhance the user experience. </a:t>
            </a:r>
          </a:p>
          <a:p>
            <a:r>
              <a:rPr lang="en-US" sz="1600" b="1" dirty="0">
                <a:latin typeface="Aptos" panose="020B0004020202020204" pitchFamily="34" charset="0"/>
              </a:rPr>
              <a:t>Community and Support: </a:t>
            </a:r>
            <a:r>
              <a:rPr lang="en-US" sz="1600" dirty="0"/>
              <a:t>Building a strong community and robust support system sets it apart from another website. Our platform fosters a sense of community, where users can interact, share experiences, and support each other. Our website cultivates a profound sense of community and provides a robust platform for mutual support.</a:t>
            </a:r>
          </a:p>
          <a:p>
            <a:r>
              <a:rPr lang="en-US" sz="1600" b="1" dirty="0">
                <a:latin typeface="Aptos" panose="020B0004020202020204" pitchFamily="34" charset="0"/>
              </a:rPr>
              <a:t>Education and Empowerment: </a:t>
            </a:r>
            <a:r>
              <a:rPr lang="en-US" sz="1600" dirty="0"/>
              <a:t>Our platform educates users about their health conditions, preventive measures, and wellness practices. Empowering users with knowledge contribute to long-term engagement</a:t>
            </a:r>
          </a:p>
          <a:p>
            <a:r>
              <a:rPr lang="en-US" sz="1600" b="1" dirty="0">
                <a:latin typeface="Aptos" panose="020B0004020202020204" pitchFamily="34" charset="0"/>
              </a:rPr>
              <a:t>Partnerships and Integration: </a:t>
            </a:r>
            <a:r>
              <a:rPr lang="en-US" sz="1600" dirty="0"/>
              <a:t>Integrations can enhance the overall healthcare experience. Hence, we plan to provide collaborations with various other health-apps, healthcare providers and organizations</a:t>
            </a:r>
            <a:endParaRPr lang="en-IN" sz="1600" dirty="0"/>
          </a:p>
        </p:txBody>
      </p:sp>
      <p:sp>
        <p:nvSpPr>
          <p:cNvPr id="4" name="Slide Number Placeholder 3">
            <a:extLst>
              <a:ext uri="{FF2B5EF4-FFF2-40B4-BE49-F238E27FC236}">
                <a16:creationId xmlns:a16="http://schemas.microsoft.com/office/drawing/2014/main" id="{B19F8D76-B26E-B28B-1635-14D8FB4E9794}"/>
              </a:ext>
            </a:extLst>
          </p:cNvPr>
          <p:cNvSpPr>
            <a:spLocks noGrp="1"/>
          </p:cNvSpPr>
          <p:nvPr>
            <p:ph type="sldNum" sz="quarter" idx="11"/>
          </p:nvPr>
        </p:nvSpPr>
        <p:spPr/>
        <p:txBody>
          <a:bodyPr/>
          <a:lstStyle/>
          <a:p>
            <a:fld id="{75DF2D63-3FF5-D547-96B9-BE9CCD1ABA58}" type="slidenum">
              <a:rPr lang="en-US" smtClean="0"/>
              <a:t>8</a:t>
            </a:fld>
            <a:endParaRPr lang="en-US" dirty="0"/>
          </a:p>
        </p:txBody>
      </p:sp>
      <p:sp>
        <p:nvSpPr>
          <p:cNvPr id="5" name="Footer Placeholder 4">
            <a:extLst>
              <a:ext uri="{FF2B5EF4-FFF2-40B4-BE49-F238E27FC236}">
                <a16:creationId xmlns:a16="http://schemas.microsoft.com/office/drawing/2014/main" id="{87FEBBF0-CA22-AE1C-4151-848856EAEF27}"/>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245830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6F89-A4FC-0745-B3AF-12669B7D78B0}"/>
              </a:ext>
            </a:extLst>
          </p:cNvPr>
          <p:cNvSpPr>
            <a:spLocks noGrp="1"/>
          </p:cNvSpPr>
          <p:nvPr>
            <p:ph type="title"/>
          </p:nvPr>
        </p:nvSpPr>
        <p:spPr>
          <a:xfrm>
            <a:off x="1234552" y="455127"/>
            <a:ext cx="10058400" cy="397841"/>
          </a:xfrm>
        </p:spPr>
        <p:txBody>
          <a:bodyPr/>
          <a:lstStyle/>
          <a:p>
            <a:pPr algn="ctr"/>
            <a:r>
              <a:rPr lang="en-US" sz="2000" b="1" dirty="0">
                <a:latin typeface="Dubai Medium" panose="020B0603030403030204" pitchFamily="34" charset="-78"/>
                <a:cs typeface="Dubai Medium" panose="020B0603030403030204" pitchFamily="34" charset="-78"/>
              </a:rPr>
              <a:t>MOTIVATION BEHIND DEVELOPING THIS WEBSITE:</a:t>
            </a:r>
            <a:endParaRPr lang="en-IN" sz="2000" b="1" dirty="0">
              <a:latin typeface="Dubai Medium" panose="020B0603030403030204" pitchFamily="34" charset="-78"/>
              <a:cs typeface="Dubai Medium" panose="020B0603030403030204" pitchFamily="34" charset="-78"/>
            </a:endParaRPr>
          </a:p>
        </p:txBody>
      </p:sp>
      <p:sp>
        <p:nvSpPr>
          <p:cNvPr id="3" name="Content Placeholder 2">
            <a:extLst>
              <a:ext uri="{FF2B5EF4-FFF2-40B4-BE49-F238E27FC236}">
                <a16:creationId xmlns:a16="http://schemas.microsoft.com/office/drawing/2014/main" id="{00699F67-52CA-7454-2669-98E170D01DCF}"/>
              </a:ext>
            </a:extLst>
          </p:cNvPr>
          <p:cNvSpPr>
            <a:spLocks noGrp="1"/>
          </p:cNvSpPr>
          <p:nvPr>
            <p:ph idx="1"/>
          </p:nvPr>
        </p:nvSpPr>
        <p:spPr>
          <a:xfrm>
            <a:off x="1253455" y="1193215"/>
            <a:ext cx="9820656" cy="4687468"/>
          </a:xfrm>
        </p:spPr>
        <p:txBody>
          <a:bodyPr/>
          <a:lstStyle/>
          <a:p>
            <a:r>
              <a:rPr lang="en-US" sz="2000" b="1" dirty="0">
                <a:latin typeface="Aptos" panose="020B0004020202020204" pitchFamily="34" charset="0"/>
              </a:rPr>
              <a:t>Improving Accessibility: </a:t>
            </a:r>
            <a:r>
              <a:rPr lang="en-US" sz="2000" dirty="0"/>
              <a:t>Our main motive is to acknowledge the importance of accessible healthcare, especially in remote or underserved areas. It aims to bridge the gap; geographical and physical barriers. </a:t>
            </a:r>
          </a:p>
          <a:p>
            <a:r>
              <a:rPr lang="en-US" sz="2000" b="1" dirty="0">
                <a:latin typeface="Aptos" panose="020B0004020202020204" pitchFamily="34" charset="0"/>
              </a:rPr>
              <a:t>Holistic Health Approach: </a:t>
            </a:r>
            <a:r>
              <a:rPr lang="en-US" sz="2000" dirty="0"/>
              <a:t>To embrace a holistic approach to health, our platform likely aims to address not only symptoms but also factors such as nutrition and exercise, recognizing the correlation of physical and mental well-being. </a:t>
            </a:r>
          </a:p>
          <a:p>
            <a:r>
              <a:rPr lang="en-US" sz="2000" b="1" dirty="0">
                <a:latin typeface="Aptos" panose="020B0004020202020204" pitchFamily="34" charset="0"/>
              </a:rPr>
              <a:t>Technology for Positive Impact:  </a:t>
            </a:r>
            <a:r>
              <a:rPr lang="en-US" sz="2000" dirty="0"/>
              <a:t>With rapid advance in technology, it becomes crucial to make some positive impact in and around. The potential of digital solutions is enhancing the healthcare experience, making it more convenient, personalized, and effective.</a:t>
            </a:r>
          </a:p>
          <a:p>
            <a:r>
              <a:rPr lang="en-US" sz="2000" b="1" dirty="0">
                <a:latin typeface="Aptos" panose="020B0004020202020204" pitchFamily="34" charset="0"/>
              </a:rPr>
              <a:t>Innovation in Healthcare: </a:t>
            </a:r>
            <a:r>
              <a:rPr lang="en-US" sz="2000" dirty="0"/>
              <a:t>A keenness to contribute to the innovation and evolution of healthcare services by introducing pioneering tactics, such as symptom analysis, personalized recommendation, guided exercise routines, and telehealth consultations. </a:t>
            </a:r>
          </a:p>
          <a:p>
            <a:r>
              <a:rPr lang="en-US" sz="2000" b="1" dirty="0">
                <a:latin typeface="Aptos" panose="020B0004020202020204" pitchFamily="34" charset="0"/>
              </a:rPr>
              <a:t>Response to Changing Needs: </a:t>
            </a:r>
            <a:r>
              <a:rPr lang="en-US" sz="2000" dirty="0"/>
              <a:t>Recognizing the changing landscape of healthcare needs, especially in the context of global events or health crises, we have developed this platform to address emerging challenges and adapt to the evolving needs of users. (PANDEMIC</a:t>
            </a:r>
            <a:endParaRPr lang="en-IN" sz="2000" dirty="0"/>
          </a:p>
        </p:txBody>
      </p:sp>
      <p:sp>
        <p:nvSpPr>
          <p:cNvPr id="4" name="Slide Number Placeholder 3">
            <a:extLst>
              <a:ext uri="{FF2B5EF4-FFF2-40B4-BE49-F238E27FC236}">
                <a16:creationId xmlns:a16="http://schemas.microsoft.com/office/drawing/2014/main" id="{C29FF213-255A-635A-FF18-78FED80BD5A6}"/>
              </a:ext>
            </a:extLst>
          </p:cNvPr>
          <p:cNvSpPr>
            <a:spLocks noGrp="1"/>
          </p:cNvSpPr>
          <p:nvPr>
            <p:ph type="sldNum" sz="quarter" idx="11"/>
          </p:nvPr>
        </p:nvSpPr>
        <p:spPr/>
        <p:txBody>
          <a:bodyPr/>
          <a:lstStyle/>
          <a:p>
            <a:fld id="{75DF2D63-3FF5-D547-96B9-BE9CCD1ABA58}" type="slidenum">
              <a:rPr lang="en-US" smtClean="0"/>
              <a:t>9</a:t>
            </a:fld>
            <a:endParaRPr lang="en-US" dirty="0"/>
          </a:p>
        </p:txBody>
      </p:sp>
      <p:sp>
        <p:nvSpPr>
          <p:cNvPr id="5" name="Footer Placeholder 4">
            <a:extLst>
              <a:ext uri="{FF2B5EF4-FFF2-40B4-BE49-F238E27FC236}">
                <a16:creationId xmlns:a16="http://schemas.microsoft.com/office/drawing/2014/main" id="{63547B97-9174-3CFE-F10F-77BE45442A91}"/>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838788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95415-73FA-DEAE-E3F3-08B2F97C211B}"/>
              </a:ext>
            </a:extLst>
          </p:cNvPr>
          <p:cNvSpPr>
            <a:spLocks noGrp="1"/>
          </p:cNvSpPr>
          <p:nvPr>
            <p:ph type="title"/>
          </p:nvPr>
        </p:nvSpPr>
        <p:spPr>
          <a:xfrm>
            <a:off x="1295400" y="369116"/>
            <a:ext cx="9821955" cy="595618"/>
          </a:xfrm>
        </p:spPr>
        <p:txBody>
          <a:bodyPr/>
          <a:lstStyle/>
          <a:p>
            <a:pPr algn="ctr"/>
            <a:r>
              <a:rPr lang="en-IN" sz="3200" dirty="0">
                <a:latin typeface="Dubai Medium" panose="020B0603030403030204" pitchFamily="34" charset="-78"/>
                <a:cs typeface="Dubai Medium" panose="020B0603030403030204" pitchFamily="34" charset="-78"/>
              </a:rPr>
              <a:t>NAVIGATING OPTIONS</a:t>
            </a:r>
          </a:p>
        </p:txBody>
      </p:sp>
      <p:sp>
        <p:nvSpPr>
          <p:cNvPr id="3" name="Slide Number Placeholder 2">
            <a:extLst>
              <a:ext uri="{FF2B5EF4-FFF2-40B4-BE49-F238E27FC236}">
                <a16:creationId xmlns:a16="http://schemas.microsoft.com/office/drawing/2014/main" id="{01CF476E-B490-4394-3804-7AF2DC710322}"/>
              </a:ext>
            </a:extLst>
          </p:cNvPr>
          <p:cNvSpPr>
            <a:spLocks noGrp="1"/>
          </p:cNvSpPr>
          <p:nvPr>
            <p:ph type="sldNum" sz="quarter" idx="11"/>
          </p:nvPr>
        </p:nvSpPr>
        <p:spPr/>
        <p:txBody>
          <a:bodyPr/>
          <a:lstStyle/>
          <a:p>
            <a:fld id="{75DF2D63-3FF5-D547-96B9-BE9CCD1ABA58}" type="slidenum">
              <a:rPr lang="en-US" smtClean="0"/>
              <a:t>10</a:t>
            </a:fld>
            <a:endParaRPr lang="en-US" dirty="0"/>
          </a:p>
        </p:txBody>
      </p:sp>
      <p:sp>
        <p:nvSpPr>
          <p:cNvPr id="4" name="Footer Placeholder 3">
            <a:extLst>
              <a:ext uri="{FF2B5EF4-FFF2-40B4-BE49-F238E27FC236}">
                <a16:creationId xmlns:a16="http://schemas.microsoft.com/office/drawing/2014/main" id="{7B5CCF32-381E-3D1A-019A-6F15BB14CE02}"/>
              </a:ext>
            </a:extLst>
          </p:cNvPr>
          <p:cNvSpPr>
            <a:spLocks noGrp="1"/>
          </p:cNvSpPr>
          <p:nvPr>
            <p:ph type="ftr" sz="quarter" idx="12"/>
          </p:nvPr>
        </p:nvSpPr>
        <p:spPr/>
        <p:txBody>
          <a:bodyPr/>
          <a:lstStyle/>
          <a:p>
            <a:r>
              <a:rPr lang="en-US" dirty="0"/>
              <a:t>HEALTH-SYNERGY</a:t>
            </a:r>
          </a:p>
        </p:txBody>
      </p:sp>
      <p:sp>
        <p:nvSpPr>
          <p:cNvPr id="5" name="TextBox 4">
            <a:extLst>
              <a:ext uri="{FF2B5EF4-FFF2-40B4-BE49-F238E27FC236}">
                <a16:creationId xmlns:a16="http://schemas.microsoft.com/office/drawing/2014/main" id="{66D13379-AB9D-AAD6-2EAC-5E43C1BCFD08}"/>
              </a:ext>
            </a:extLst>
          </p:cNvPr>
          <p:cNvSpPr txBox="1"/>
          <p:nvPr/>
        </p:nvSpPr>
        <p:spPr>
          <a:xfrm>
            <a:off x="1295400" y="856573"/>
            <a:ext cx="4896373" cy="563231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PROS: - </a:t>
            </a:r>
          </a:p>
          <a:p>
            <a:r>
              <a:rPr lang="en-US" dirty="0"/>
              <a:t>• </a:t>
            </a:r>
            <a:r>
              <a:rPr lang="en-US" b="1" dirty="0">
                <a:latin typeface="Aptos" panose="020B0004020202020204" pitchFamily="34" charset="0"/>
              </a:rPr>
              <a:t>Accessibility: </a:t>
            </a:r>
            <a:r>
              <a:rPr lang="en-US" dirty="0"/>
              <a:t>Provides access to medical care for any individual, irrespective of their location, be it an urban or a remote area. </a:t>
            </a:r>
          </a:p>
          <a:p>
            <a:r>
              <a:rPr lang="en-US" dirty="0"/>
              <a:t>• </a:t>
            </a:r>
            <a:r>
              <a:rPr lang="en-US" b="1" dirty="0">
                <a:latin typeface="Aptos" panose="020B0004020202020204" pitchFamily="34" charset="0"/>
              </a:rPr>
              <a:t>Convenience: </a:t>
            </a:r>
            <a:r>
              <a:rPr lang="en-US" dirty="0"/>
              <a:t>Allows patients to schedule appointments more easily and is also convenient for people with mobility issues, as it offers complete flexibility to the users. </a:t>
            </a:r>
          </a:p>
          <a:p>
            <a:r>
              <a:rPr lang="en-US" dirty="0"/>
              <a:t>• </a:t>
            </a:r>
            <a:r>
              <a:rPr lang="en-US" b="1" dirty="0">
                <a:latin typeface="Aptos" panose="020B0004020202020204" pitchFamily="34" charset="0"/>
              </a:rPr>
              <a:t>Cost Savings: </a:t>
            </a:r>
            <a:r>
              <a:rPr lang="en-US" dirty="0"/>
              <a:t>Reduces the travel expenses thereby, lowers the healthcare costs. </a:t>
            </a:r>
          </a:p>
          <a:p>
            <a:r>
              <a:rPr lang="en-US" dirty="0"/>
              <a:t>• </a:t>
            </a:r>
            <a:r>
              <a:rPr lang="en-US" b="1" dirty="0">
                <a:latin typeface="Aptos" panose="020B0004020202020204" pitchFamily="34" charset="0"/>
              </a:rPr>
              <a:t>Efficiency: </a:t>
            </a:r>
            <a:r>
              <a:rPr lang="en-US" dirty="0"/>
              <a:t>Can be more time efficient for both healthcare providers and patients. </a:t>
            </a:r>
          </a:p>
          <a:p>
            <a:r>
              <a:rPr lang="en-US" dirty="0"/>
              <a:t>• Preventive Care: Preventive care is guaranteed by enabling regular check-ups. </a:t>
            </a:r>
          </a:p>
          <a:p>
            <a:r>
              <a:rPr lang="en-US" dirty="0"/>
              <a:t>•</a:t>
            </a:r>
            <a:r>
              <a:rPr lang="en-US" b="1" dirty="0">
                <a:latin typeface="Aptos" panose="020B0004020202020204" pitchFamily="34" charset="0"/>
              </a:rPr>
              <a:t> Reduced exposure to infection: </a:t>
            </a:r>
            <a:r>
              <a:rPr lang="en-US" dirty="0"/>
              <a:t>By minimizing the personal visits with doctors, it reduces the chances of infections especially during pandemics. </a:t>
            </a:r>
          </a:p>
          <a:p>
            <a:r>
              <a:rPr lang="en-US" dirty="0"/>
              <a:t>• </a:t>
            </a:r>
            <a:r>
              <a:rPr lang="en-US" b="1" dirty="0">
                <a:latin typeface="Aptos" panose="020B0004020202020204" pitchFamily="34" charset="0"/>
              </a:rPr>
              <a:t>Monitoring and chronic care: </a:t>
            </a:r>
            <a:r>
              <a:rPr lang="en-US" dirty="0"/>
              <a:t>It helps the healthcare providers track vital signs of a patient, and adjust treatment accordingly. </a:t>
            </a:r>
            <a:endParaRPr lang="en-IN" dirty="0"/>
          </a:p>
        </p:txBody>
      </p:sp>
      <p:sp>
        <p:nvSpPr>
          <p:cNvPr id="6" name="TextBox 5">
            <a:extLst>
              <a:ext uri="{FF2B5EF4-FFF2-40B4-BE49-F238E27FC236}">
                <a16:creationId xmlns:a16="http://schemas.microsoft.com/office/drawing/2014/main" id="{9BB227B7-4A50-225A-3D72-825569456A08}"/>
              </a:ext>
            </a:extLst>
          </p:cNvPr>
          <p:cNvSpPr txBox="1"/>
          <p:nvPr/>
        </p:nvSpPr>
        <p:spPr>
          <a:xfrm>
            <a:off x="6191773" y="848639"/>
            <a:ext cx="5477029" cy="5632311"/>
          </a:xfrm>
          <a:prstGeom prst="rect">
            <a:avLst/>
          </a:prstGeom>
          <a:noFill/>
        </p:spPr>
        <p:txBody>
          <a:bodyPr wrap="square" rtlCol="0">
            <a:spAutoFit/>
          </a:bodyPr>
          <a:lstStyle/>
          <a:p>
            <a:r>
              <a:rPr lang="en-US" b="1" dirty="0">
                <a:latin typeface="Aptos" panose="020B0004020202020204" pitchFamily="34" charset="0"/>
              </a:rPr>
              <a:t>CONS: -</a:t>
            </a:r>
          </a:p>
          <a:p>
            <a:r>
              <a:rPr lang="en-US" dirty="0"/>
              <a:t>• </a:t>
            </a:r>
            <a:r>
              <a:rPr lang="en-US" b="1" dirty="0">
                <a:latin typeface="Aptos" panose="020B0004020202020204" pitchFamily="34" charset="0"/>
              </a:rPr>
              <a:t>Technological barriers: </a:t>
            </a:r>
            <a:r>
              <a:rPr lang="en-US" dirty="0"/>
              <a:t>Some patients may lack the technological resources such as phone, computer, internet access etc. </a:t>
            </a:r>
          </a:p>
          <a:p>
            <a:r>
              <a:rPr lang="en-US" dirty="0"/>
              <a:t>• </a:t>
            </a:r>
            <a:r>
              <a:rPr lang="en-US" b="1" dirty="0">
                <a:latin typeface="Aptos" panose="020B0004020202020204" pitchFamily="34" charset="0"/>
              </a:rPr>
              <a:t>Lack of physical examination: </a:t>
            </a:r>
            <a:r>
              <a:rPr lang="en-US" dirty="0"/>
              <a:t>Virtual visits limit the healthcare provider’s capability to conduct a thorough physical examination that could lead to misdiagnosis. </a:t>
            </a:r>
          </a:p>
          <a:p>
            <a:r>
              <a:rPr lang="en-US" dirty="0"/>
              <a:t>• </a:t>
            </a:r>
            <a:r>
              <a:rPr lang="en-US" b="1" dirty="0">
                <a:latin typeface="Aptos" panose="020B0004020202020204" pitchFamily="34" charset="0"/>
              </a:rPr>
              <a:t>Security and privacy concerns: </a:t>
            </a:r>
            <a:r>
              <a:rPr lang="en-US" dirty="0"/>
              <a:t>Telehealth platforms need robust security measures to hide patient data and maintain sequestration. </a:t>
            </a:r>
          </a:p>
          <a:p>
            <a:r>
              <a:rPr lang="en-US" dirty="0"/>
              <a:t>• </a:t>
            </a:r>
            <a:r>
              <a:rPr lang="en-US" b="1" dirty="0">
                <a:latin typeface="Aptos" panose="020B0004020202020204" pitchFamily="34" charset="0"/>
              </a:rPr>
              <a:t>Insurance Coverage and Reimbursement: </a:t>
            </a:r>
            <a:r>
              <a:rPr lang="en-US" dirty="0"/>
              <a:t>Reimbursement policies for telehealth services can be inconsistent. </a:t>
            </a:r>
          </a:p>
          <a:p>
            <a:r>
              <a:rPr lang="en-US" dirty="0"/>
              <a:t>• </a:t>
            </a:r>
            <a:r>
              <a:rPr lang="en-US" b="1" dirty="0">
                <a:latin typeface="Aptos" panose="020B0004020202020204" pitchFamily="34" charset="0"/>
              </a:rPr>
              <a:t>Limited Emergency Care: </a:t>
            </a:r>
            <a:r>
              <a:rPr lang="en-US" dirty="0"/>
              <a:t>A telehealth platform cannot replace emergency situations where hands-on care is required. • </a:t>
            </a:r>
            <a:r>
              <a:rPr lang="en-US" b="1" dirty="0">
                <a:latin typeface="Aptos" panose="020B0004020202020204" pitchFamily="34" charset="0"/>
              </a:rPr>
              <a:t>Regulatory challenges: </a:t>
            </a:r>
            <a:r>
              <a:rPr lang="en-US" dirty="0"/>
              <a:t>Different regions have varying regulations for telemedicine that could pose a challenge for providers offering services across multiple governance. </a:t>
            </a:r>
          </a:p>
          <a:p>
            <a:r>
              <a:rPr lang="en-US" dirty="0"/>
              <a:t>• </a:t>
            </a:r>
            <a:r>
              <a:rPr lang="en-US" b="1" dirty="0">
                <a:latin typeface="Aptos" panose="020B0004020202020204" pitchFamily="34" charset="0"/>
              </a:rPr>
              <a:t>Technological Glitches: </a:t>
            </a:r>
            <a:r>
              <a:rPr lang="en-US" dirty="0"/>
              <a:t>Technical issues, such as poor internet connectivity or software may disrupt the consultation. </a:t>
            </a:r>
            <a:endParaRPr lang="en-IN" dirty="0"/>
          </a:p>
        </p:txBody>
      </p:sp>
    </p:spTree>
    <p:extLst>
      <p:ext uri="{BB962C8B-B14F-4D97-AF65-F5344CB8AC3E}">
        <p14:creationId xmlns:p14="http://schemas.microsoft.com/office/powerpoint/2010/main" val="3075998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DC45-FA4C-8714-B3A8-427E8D86959E}"/>
              </a:ext>
            </a:extLst>
          </p:cNvPr>
          <p:cNvSpPr>
            <a:spLocks noGrp="1"/>
          </p:cNvSpPr>
          <p:nvPr>
            <p:ph type="title"/>
          </p:nvPr>
        </p:nvSpPr>
        <p:spPr>
          <a:xfrm>
            <a:off x="1295400" y="349542"/>
            <a:ext cx="10058400" cy="914400"/>
          </a:xfrm>
        </p:spPr>
        <p:txBody>
          <a:bodyPr/>
          <a:lstStyle/>
          <a:p>
            <a:pPr algn="ctr"/>
            <a:r>
              <a:rPr lang="en-US" sz="2800" b="1" dirty="0">
                <a:latin typeface="Dubai Medium" panose="020B0603030403030204" pitchFamily="34" charset="-78"/>
                <a:cs typeface="Dubai Medium" panose="020B0603030403030204" pitchFamily="34" charset="-78"/>
              </a:rPr>
              <a:t>BEHIND THE SCENES</a:t>
            </a:r>
            <a:r>
              <a:rPr lang="en-US" sz="1000" b="1" dirty="0"/>
              <a:t> </a:t>
            </a:r>
            <a:br>
              <a:rPr lang="en-US" sz="1000" dirty="0"/>
            </a:br>
            <a:r>
              <a:rPr lang="en-US" sz="1800" dirty="0">
                <a:latin typeface="Arial" panose="020B0604020202020204" pitchFamily="34" charset="0"/>
                <a:cs typeface="Arial" panose="020B0604020202020204" pitchFamily="34" charset="0"/>
              </a:rPr>
              <a:t>PROBLEMS FACED WHILE MAKING THE WEBSITE</a:t>
            </a:r>
            <a:endParaRPr lang="en-IN" sz="1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9A2A195-EA0D-4744-126E-414468DF7DB0}"/>
              </a:ext>
            </a:extLst>
          </p:cNvPr>
          <p:cNvSpPr>
            <a:spLocks noGrp="1"/>
          </p:cNvSpPr>
          <p:nvPr>
            <p:ph idx="1"/>
          </p:nvPr>
        </p:nvSpPr>
        <p:spPr>
          <a:xfrm>
            <a:off x="1295400" y="1333850"/>
            <a:ext cx="9820656" cy="5016616"/>
          </a:xfrm>
        </p:spPr>
        <p:txBody>
          <a:bodyPr/>
          <a:lstStyle/>
          <a:p>
            <a:r>
              <a:rPr lang="en-US" sz="2000" b="1" dirty="0"/>
              <a:t>Problem 1: </a:t>
            </a:r>
            <a:r>
              <a:rPr lang="en-US" sz="2000" dirty="0"/>
              <a:t>TO make the website Learning of website from scratch within stipulated time was quite challenging as it requires to ace some skills. </a:t>
            </a:r>
          </a:p>
          <a:p>
            <a:pPr marL="0" indent="0">
              <a:buNone/>
            </a:pPr>
            <a:r>
              <a:rPr lang="en-US" sz="2000" b="1" dirty="0"/>
              <a:t>Solution: </a:t>
            </a:r>
            <a:r>
              <a:rPr lang="en-US" sz="2000" dirty="0"/>
              <a:t>we learnt html, CSS and JavaScript along with bootstrap.</a:t>
            </a:r>
          </a:p>
          <a:p>
            <a:r>
              <a:rPr lang="en-US" sz="2000" b="1" dirty="0"/>
              <a:t>Problem 2: </a:t>
            </a:r>
            <a:r>
              <a:rPr lang="en-US" sz="2000" dirty="0"/>
              <a:t>Problem in design layout Did not know how to design a Telehealth website. </a:t>
            </a:r>
          </a:p>
          <a:p>
            <a:pPr marL="0" indent="0">
              <a:buNone/>
            </a:pPr>
            <a:r>
              <a:rPr lang="en-US" sz="2000" b="1" dirty="0"/>
              <a:t>Solution: </a:t>
            </a:r>
            <a:r>
              <a:rPr lang="en-US" sz="2000" dirty="0"/>
              <a:t>we had to go through other websites to draw inspiration for website design. </a:t>
            </a:r>
          </a:p>
          <a:p>
            <a:r>
              <a:rPr lang="en-US" sz="2000" b="1" dirty="0"/>
              <a:t>Problem 3: </a:t>
            </a:r>
            <a:r>
              <a:rPr lang="en-US" sz="2000" dirty="0"/>
              <a:t>Standing out There are a lot of Telehealth websites so we had to stand out amongst them.</a:t>
            </a:r>
          </a:p>
          <a:p>
            <a:pPr marL="0" indent="0">
              <a:buNone/>
            </a:pPr>
            <a:r>
              <a:rPr lang="en-US" sz="2000" b="1" dirty="0"/>
              <a:t>Solution: </a:t>
            </a:r>
            <a:r>
              <a:rPr lang="en-US" sz="2000" dirty="0"/>
              <a:t>what we did is we made it much more user friendly compared to other websites, added features like a virtual waiting room, optimized smartphone and 24/7 availability. We have also collaborated on different features like symptom analysis, medicine recommendations and diet plan, making it versatile. </a:t>
            </a:r>
          </a:p>
          <a:p>
            <a:r>
              <a:rPr lang="en-US" sz="2000" b="1" dirty="0"/>
              <a:t>Problem 4: </a:t>
            </a:r>
            <a:r>
              <a:rPr lang="en-US" sz="2000" dirty="0"/>
              <a:t>Role based control To make the website role based, meaning they should be different for doctors, nurses, and patients, we had to create roles/id. Problem 5: User-Interface Complexity To build an intuitive and user-friendly platform for complex data can be quite challenging. </a:t>
            </a:r>
          </a:p>
          <a:p>
            <a:pPr marL="0" indent="0">
              <a:buNone/>
            </a:pPr>
            <a:r>
              <a:rPr lang="en-US" sz="2000" b="1" dirty="0"/>
              <a:t>Solution: </a:t>
            </a:r>
            <a:r>
              <a:rPr lang="en-US" sz="2000" dirty="0"/>
              <a:t>Firstly, conduct a session with the user to understand his needs better. Then, prioritize the vital information and use clear and simple visualizations to display the data</a:t>
            </a:r>
            <a:endParaRPr lang="en-IN" sz="2000" dirty="0"/>
          </a:p>
        </p:txBody>
      </p:sp>
      <p:sp>
        <p:nvSpPr>
          <p:cNvPr id="4" name="Slide Number Placeholder 3">
            <a:extLst>
              <a:ext uri="{FF2B5EF4-FFF2-40B4-BE49-F238E27FC236}">
                <a16:creationId xmlns:a16="http://schemas.microsoft.com/office/drawing/2014/main" id="{AFA7E434-00A5-5898-6DC8-6EB58E9F6D2B}"/>
              </a:ext>
            </a:extLst>
          </p:cNvPr>
          <p:cNvSpPr>
            <a:spLocks noGrp="1"/>
          </p:cNvSpPr>
          <p:nvPr>
            <p:ph type="sldNum" sz="quarter" idx="11"/>
          </p:nvPr>
        </p:nvSpPr>
        <p:spPr/>
        <p:txBody>
          <a:bodyPr/>
          <a:lstStyle/>
          <a:p>
            <a:fld id="{75DF2D63-3FF5-D547-96B9-BE9CCD1ABA58}" type="slidenum">
              <a:rPr lang="en-US" smtClean="0"/>
              <a:t>11</a:t>
            </a:fld>
            <a:endParaRPr lang="en-US" dirty="0"/>
          </a:p>
        </p:txBody>
      </p:sp>
      <p:sp>
        <p:nvSpPr>
          <p:cNvPr id="5" name="Footer Placeholder 4">
            <a:extLst>
              <a:ext uri="{FF2B5EF4-FFF2-40B4-BE49-F238E27FC236}">
                <a16:creationId xmlns:a16="http://schemas.microsoft.com/office/drawing/2014/main" id="{B5984588-8986-C8ED-DD0E-8934B7D5B909}"/>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347847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7287F6-92FD-ECC8-16B8-ED9851992B80}"/>
              </a:ext>
            </a:extLst>
          </p:cNvPr>
          <p:cNvSpPr>
            <a:spLocks noGrp="1"/>
          </p:cNvSpPr>
          <p:nvPr>
            <p:ph idx="1"/>
          </p:nvPr>
        </p:nvSpPr>
        <p:spPr>
          <a:xfrm>
            <a:off x="1261844" y="547261"/>
            <a:ext cx="9820656" cy="5656689"/>
          </a:xfrm>
        </p:spPr>
        <p:txBody>
          <a:bodyPr/>
          <a:lstStyle/>
          <a:p>
            <a:pPr marL="0" indent="0">
              <a:buNone/>
            </a:pPr>
            <a:r>
              <a:rPr lang="en-US" sz="3600" b="1" dirty="0">
                <a:latin typeface="Dubai Medium" panose="020B0603030403030204" pitchFamily="34" charset="-78"/>
                <a:cs typeface="Dubai Medium" panose="020B0603030403030204" pitchFamily="34" charset="-78"/>
              </a:rPr>
              <a:t>FUTURE SCOPE</a:t>
            </a:r>
          </a:p>
          <a:p>
            <a:pPr marL="0" indent="0">
              <a:buNone/>
            </a:pPr>
            <a:r>
              <a:rPr lang="en-US" sz="1800" dirty="0"/>
              <a:t>▪ </a:t>
            </a:r>
            <a:r>
              <a:rPr lang="en-US" sz="1800" b="1" dirty="0">
                <a:latin typeface="Aptos" panose="020B0004020202020204" pitchFamily="34" charset="0"/>
              </a:rPr>
              <a:t>Enhanced AI and Personalization: </a:t>
            </a:r>
            <a:r>
              <a:rPr lang="en-US" sz="1800" dirty="0"/>
              <a:t>Platform's AI capabilities should be upgraded to offer more personalized recommendations based on user health reports and preferences. This can be done by refining the algorithms to provide accurate and tailored advice.</a:t>
            </a:r>
          </a:p>
          <a:p>
            <a:pPr marL="0" indent="0">
              <a:buNone/>
            </a:pPr>
            <a:r>
              <a:rPr lang="en-US" sz="1800" dirty="0"/>
              <a:t>▪ </a:t>
            </a:r>
            <a:r>
              <a:rPr lang="en-US" sz="1800" b="1" dirty="0">
                <a:latin typeface="Aptos" panose="020B0004020202020204" pitchFamily="34" charset="0"/>
              </a:rPr>
              <a:t>Integration with Wearable Devices and IoT: </a:t>
            </a:r>
            <a:r>
              <a:rPr lang="en-US" sz="1800" dirty="0"/>
              <a:t>Integrating health and IoT (Internet of Things) gadgets to gather real-time health data. IoT device can gather data and provide a much more compressive report using real time data and cloud servers.</a:t>
            </a:r>
          </a:p>
          <a:p>
            <a:pPr marL="0" indent="0">
              <a:buNone/>
            </a:pPr>
            <a:r>
              <a:rPr lang="en-US" sz="1800" dirty="0"/>
              <a:t>▪ </a:t>
            </a:r>
            <a:r>
              <a:rPr lang="en-US" sz="1800" b="1" dirty="0">
                <a:latin typeface="Aptos" panose="020B0004020202020204" pitchFamily="34" charset="0"/>
              </a:rPr>
              <a:t>Gamification and Behavioral Incentives: </a:t>
            </a:r>
            <a:r>
              <a:rPr lang="en-US" sz="1800" dirty="0"/>
              <a:t>Gamification elements must be included to encourage using the platform and adherence to medical suggestions. Using rewards and challenges to motivate users in following prescribed remedies and lifestyle changes. </a:t>
            </a:r>
          </a:p>
          <a:p>
            <a:pPr marL="0" indent="0">
              <a:buNone/>
            </a:pPr>
            <a:r>
              <a:rPr lang="en-US" sz="1800" dirty="0"/>
              <a:t>▪ </a:t>
            </a:r>
            <a:r>
              <a:rPr lang="en-US" sz="1800" b="1" dirty="0">
                <a:latin typeface="Aptos" panose="020B0004020202020204" pitchFamily="34" charset="0"/>
              </a:rPr>
              <a:t>Community and User Engagement Features: </a:t>
            </a:r>
            <a:r>
              <a:rPr lang="en-US" sz="1800" dirty="0"/>
              <a:t>A community should be established within the platform, allowing the users to share experiences and tips. </a:t>
            </a:r>
          </a:p>
          <a:p>
            <a:pPr marL="0" indent="0">
              <a:buNone/>
            </a:pPr>
            <a:r>
              <a:rPr lang="en-US" sz="1800" dirty="0"/>
              <a:t>▪ </a:t>
            </a:r>
            <a:r>
              <a:rPr lang="en-US" sz="1800" b="1" dirty="0">
                <a:latin typeface="Aptos" panose="020B0004020202020204" pitchFamily="34" charset="0"/>
              </a:rPr>
              <a:t>Augmented Reality (AR) and Virtual Experiences: </a:t>
            </a:r>
            <a:r>
              <a:rPr lang="en-US" sz="1800" dirty="0"/>
              <a:t>VR features could be added for virtual healthcare experiences, enabling users to simulate health-related scenarios or take part in VR appointments for procedures like home first aid, physical therapy exercises, </a:t>
            </a:r>
            <a:r>
              <a:rPr lang="en-US" sz="1800" dirty="0" err="1"/>
              <a:t>etc</a:t>
            </a:r>
            <a:endParaRPr lang="en-IN" sz="1800" dirty="0"/>
          </a:p>
        </p:txBody>
      </p:sp>
      <p:sp>
        <p:nvSpPr>
          <p:cNvPr id="4" name="Slide Number Placeholder 3">
            <a:extLst>
              <a:ext uri="{FF2B5EF4-FFF2-40B4-BE49-F238E27FC236}">
                <a16:creationId xmlns:a16="http://schemas.microsoft.com/office/drawing/2014/main" id="{9FCFA5B4-C225-D1C6-B498-2C7604AC7B31}"/>
              </a:ext>
            </a:extLst>
          </p:cNvPr>
          <p:cNvSpPr>
            <a:spLocks noGrp="1"/>
          </p:cNvSpPr>
          <p:nvPr>
            <p:ph type="sldNum" sz="quarter" idx="11"/>
          </p:nvPr>
        </p:nvSpPr>
        <p:spPr/>
        <p:txBody>
          <a:bodyPr/>
          <a:lstStyle/>
          <a:p>
            <a:fld id="{75DF2D63-3FF5-D547-96B9-BE9CCD1ABA58}" type="slidenum">
              <a:rPr lang="en-US" smtClean="0"/>
              <a:t>12</a:t>
            </a:fld>
            <a:endParaRPr lang="en-US" dirty="0"/>
          </a:p>
        </p:txBody>
      </p:sp>
      <p:sp>
        <p:nvSpPr>
          <p:cNvPr id="5" name="Footer Placeholder 4">
            <a:extLst>
              <a:ext uri="{FF2B5EF4-FFF2-40B4-BE49-F238E27FC236}">
                <a16:creationId xmlns:a16="http://schemas.microsoft.com/office/drawing/2014/main" id="{E9DBFFE3-91EC-61A5-CE91-49A60EF2BB07}"/>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280631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603BD-E4ED-FF06-BB7D-05E5D8BBDD84}"/>
              </a:ext>
            </a:extLst>
          </p:cNvPr>
          <p:cNvSpPr>
            <a:spLocks noGrp="1"/>
          </p:cNvSpPr>
          <p:nvPr>
            <p:ph idx="1"/>
          </p:nvPr>
        </p:nvSpPr>
        <p:spPr>
          <a:xfrm>
            <a:off x="1295400" y="654048"/>
            <a:ext cx="9820656" cy="5554441"/>
          </a:xfrm>
        </p:spPr>
        <p:txBody>
          <a:bodyPr/>
          <a:lstStyle/>
          <a:p>
            <a:pPr marL="0" indent="0" algn="ctr">
              <a:buNone/>
            </a:pPr>
            <a:r>
              <a:rPr lang="en-US" sz="3600" b="1" dirty="0"/>
              <a:t>“BREAKING BARRIERS” </a:t>
            </a:r>
          </a:p>
          <a:p>
            <a:r>
              <a:rPr lang="en-US" b="1" dirty="0"/>
              <a:t>HOW TO MAKE OUR WEBSITE ACCESSIBLE TO RURAL RESIDENTS?</a:t>
            </a:r>
          </a:p>
          <a:p>
            <a:pPr marL="0" indent="0">
              <a:buNone/>
            </a:pPr>
            <a:r>
              <a:rPr lang="en-US" sz="2000" dirty="0"/>
              <a:t>To ensure that our telehealth and medicine website is accessible to people residing in rural areas requires addressing challenges such as limited internet connectivity, lower technological literacy, and potential barriers to healthcare access. Here are some strategies to enhance accessibility for users in rural areas: </a:t>
            </a:r>
          </a:p>
          <a:p>
            <a:pPr marL="0" indent="0">
              <a:buNone/>
            </a:pPr>
            <a:r>
              <a:rPr lang="en-US" sz="2000" dirty="0"/>
              <a:t>➢ </a:t>
            </a:r>
            <a:r>
              <a:rPr lang="en-US" sz="2000" b="1" dirty="0">
                <a:latin typeface="Aptos" panose="020B0004020202020204" pitchFamily="34" charset="0"/>
              </a:rPr>
              <a:t>Optimize for Low Bandwidth: </a:t>
            </a:r>
            <a:r>
              <a:rPr lang="en-US" sz="2000" dirty="0"/>
              <a:t>By designing the website to be lightweight and optimized for low bandwidth, it ensures that users with slower internet connections can still have access to essential features without delays.</a:t>
            </a:r>
          </a:p>
          <a:p>
            <a:pPr marL="0" indent="0">
              <a:buNone/>
            </a:pPr>
            <a:r>
              <a:rPr lang="en-US" sz="2000" dirty="0"/>
              <a:t>➢ </a:t>
            </a:r>
            <a:r>
              <a:rPr lang="en-US" sz="2000" b="1" dirty="0">
                <a:latin typeface="Aptos" panose="020B0004020202020204" pitchFamily="34" charset="0"/>
              </a:rPr>
              <a:t>Text-Heavy Alternatives: </a:t>
            </a:r>
            <a:r>
              <a:rPr lang="en-US" sz="2000" dirty="0"/>
              <a:t>By providing text-heavy alternatives for graphics and videos, it can help users with low bandwidth , access information more efficiently, as text content generally requires less bandwidth. </a:t>
            </a:r>
          </a:p>
          <a:p>
            <a:pPr marL="0" indent="0">
              <a:buNone/>
            </a:pPr>
            <a:r>
              <a:rPr lang="en-US" sz="2000" dirty="0"/>
              <a:t>➢ </a:t>
            </a:r>
            <a:r>
              <a:rPr lang="en-US" sz="2000" b="1" dirty="0">
                <a:latin typeface="Aptos" panose="020B0004020202020204" pitchFamily="34" charset="0"/>
              </a:rPr>
              <a:t>Clear Instructions and Guidance: </a:t>
            </a:r>
            <a:r>
              <a:rPr lang="en-US" sz="2000" dirty="0"/>
              <a:t>By using simple language and straightforward navigation, we can ensure that our website provides clear instructions and guidance for users who may have lower technological literacy. </a:t>
            </a:r>
            <a:endParaRPr lang="en-IN" sz="2000" dirty="0"/>
          </a:p>
        </p:txBody>
      </p:sp>
      <p:sp>
        <p:nvSpPr>
          <p:cNvPr id="4" name="Slide Number Placeholder 3">
            <a:extLst>
              <a:ext uri="{FF2B5EF4-FFF2-40B4-BE49-F238E27FC236}">
                <a16:creationId xmlns:a16="http://schemas.microsoft.com/office/drawing/2014/main" id="{0E365351-A995-BCB9-99A1-3A7E6B7966C4}"/>
              </a:ext>
            </a:extLst>
          </p:cNvPr>
          <p:cNvSpPr>
            <a:spLocks noGrp="1"/>
          </p:cNvSpPr>
          <p:nvPr>
            <p:ph type="sldNum" sz="quarter" idx="11"/>
          </p:nvPr>
        </p:nvSpPr>
        <p:spPr/>
        <p:txBody>
          <a:bodyPr/>
          <a:lstStyle/>
          <a:p>
            <a:fld id="{75DF2D63-3FF5-D547-96B9-BE9CCD1ABA58}" type="slidenum">
              <a:rPr lang="en-US" smtClean="0"/>
              <a:t>13</a:t>
            </a:fld>
            <a:endParaRPr lang="en-US" dirty="0"/>
          </a:p>
        </p:txBody>
      </p:sp>
      <p:sp>
        <p:nvSpPr>
          <p:cNvPr id="5" name="Footer Placeholder 4">
            <a:extLst>
              <a:ext uri="{FF2B5EF4-FFF2-40B4-BE49-F238E27FC236}">
                <a16:creationId xmlns:a16="http://schemas.microsoft.com/office/drawing/2014/main" id="{50B49959-EA75-09C1-0C6E-F1A4BC73C32D}"/>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3428358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A4FF-6271-4AE3-9FD1-5D32B61A43F4}"/>
              </a:ext>
            </a:extLst>
          </p:cNvPr>
          <p:cNvSpPr>
            <a:spLocks noGrp="1"/>
          </p:cNvSpPr>
          <p:nvPr>
            <p:ph type="title"/>
          </p:nvPr>
        </p:nvSpPr>
        <p:spPr>
          <a:xfrm>
            <a:off x="1270233" y="303898"/>
            <a:ext cx="9821955" cy="5807978"/>
          </a:xfrm>
        </p:spPr>
        <p:txBody>
          <a:bodyPr/>
          <a:lstStyle/>
          <a:p>
            <a:r>
              <a:rPr lang="en-US" sz="1600" dirty="0"/>
              <a:t>➢ </a:t>
            </a:r>
            <a:r>
              <a:rPr lang="en-US" sz="1600" b="1" dirty="0">
                <a:latin typeface="Aptos" panose="020B0004020202020204" pitchFamily="34" charset="0"/>
              </a:rPr>
              <a:t>Localized (something): </a:t>
            </a:r>
            <a:r>
              <a:rPr lang="en-US" sz="1600" dirty="0">
                <a:latin typeface="Calibri" panose="020F0502020204030204" pitchFamily="34" charset="0"/>
                <a:ea typeface="Calibri" panose="020F0502020204030204" pitchFamily="34" charset="0"/>
                <a:cs typeface="Calibri" panose="020F0502020204030204" pitchFamily="34" charset="0"/>
              </a:rPr>
              <a:t>Tailored content is added to make relevant changes based on healthcare needs of individuals in rural areas. Information on common health issues in these regions and relevant preventive measures is thrown in. </a:t>
            </a:r>
            <a:br>
              <a:rPr lang="en-US" sz="1600" dirty="0">
                <a:latin typeface="Calibri" panose="020F0502020204030204" pitchFamily="34" charset="0"/>
                <a:ea typeface="Calibri" panose="020F0502020204030204" pitchFamily="34" charset="0"/>
                <a:cs typeface="Calibri" panose="020F0502020204030204" pitchFamily="34" charset="0"/>
              </a:rPr>
            </a:br>
            <a:br>
              <a:rPr lang="en-US" sz="1600" dirty="0"/>
            </a:br>
            <a:r>
              <a:rPr lang="en-US" sz="1600" dirty="0"/>
              <a:t>➢ </a:t>
            </a:r>
            <a:r>
              <a:rPr lang="en-US" sz="1600" b="1" dirty="0">
                <a:latin typeface="Aptos" panose="020B0004020202020204" pitchFamily="34" charset="0"/>
              </a:rPr>
              <a:t>Community Outreach: </a:t>
            </a:r>
            <a:r>
              <a:rPr lang="en-US" sz="1600" dirty="0">
                <a:latin typeface="Calibri" panose="020F0502020204030204" pitchFamily="34" charset="0"/>
                <a:ea typeface="Calibri" panose="020F0502020204030204" pitchFamily="34" charset="0"/>
                <a:cs typeface="Calibri" panose="020F0502020204030204" pitchFamily="34" charset="0"/>
              </a:rPr>
              <a:t>Community outreach initiatives are organized to raise awareness. Collaborations with local organizations, community leaders, and healthcare providers are established in order to promote the platform and help the users get familiar with the working</a:t>
            </a:r>
            <a:br>
              <a:rPr lang="en-US" sz="1600" dirty="0">
                <a:latin typeface="Calibri" panose="020F0502020204030204" pitchFamily="34" charset="0"/>
                <a:ea typeface="Calibri" panose="020F0502020204030204" pitchFamily="34" charset="0"/>
                <a:cs typeface="Calibri" panose="020F0502020204030204" pitchFamily="34" charset="0"/>
              </a:rPr>
            </a:b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t>➢ </a:t>
            </a:r>
            <a:r>
              <a:rPr lang="en-US" sz="1600" b="1" dirty="0">
                <a:latin typeface="Aptos" panose="020B0004020202020204" pitchFamily="34" charset="0"/>
              </a:rPr>
              <a:t>Alternate Communication Channels: </a:t>
            </a:r>
            <a:r>
              <a:rPr lang="en-US" sz="1600" dirty="0">
                <a:latin typeface="Bahnschrift Light" panose="020B0502040204020203" pitchFamily="34" charset="0"/>
              </a:rPr>
              <a:t>Helpline or email support are made readily available, for users who may face challenges using the website. This enables them to comfortably seek for help whenever required.</a:t>
            </a:r>
            <a:br>
              <a:rPr lang="en-US" sz="1600" dirty="0">
                <a:latin typeface="Bahnschrift Light" panose="020B0502040204020203" pitchFamily="34" charset="0"/>
              </a:rPr>
            </a:br>
            <a:r>
              <a:rPr lang="en-US" sz="1600" dirty="0">
                <a:latin typeface="Bahnschrift Light" panose="020B0502040204020203" pitchFamily="34" charset="0"/>
              </a:rPr>
              <a:t> </a:t>
            </a:r>
            <a:br>
              <a:rPr lang="en-US" sz="1600" dirty="0">
                <a:latin typeface="Bahnschrift Light" panose="020B0502040204020203" pitchFamily="34" charset="0"/>
              </a:rPr>
            </a:br>
            <a:r>
              <a:rPr lang="en-US" sz="1600" dirty="0"/>
              <a:t>➢ </a:t>
            </a:r>
            <a:r>
              <a:rPr lang="en-US" sz="1600" b="1" dirty="0">
                <a:latin typeface="Aptos" panose="020B0004020202020204" pitchFamily="34" charset="0"/>
              </a:rPr>
              <a:t>Local Language Support: </a:t>
            </a:r>
            <a:r>
              <a:rPr lang="en-US" sz="1600" dirty="0">
                <a:latin typeface="Calibri" panose="020F0502020204030204" pitchFamily="34" charset="0"/>
                <a:ea typeface="Calibri" panose="020F0502020204030204" pitchFamily="34" charset="0"/>
                <a:cs typeface="Calibri" panose="020F0502020204030204" pitchFamily="34" charset="0"/>
              </a:rPr>
              <a:t>Availability of helpline and support through local languages enhances accessibility and ensures that users can navigate smoothly and understand the content more effectively.</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t>➢ </a:t>
            </a:r>
            <a:r>
              <a:rPr lang="en-US" sz="1600" b="1" dirty="0">
                <a:latin typeface="Aptos" panose="020B0004020202020204" pitchFamily="34" charset="0"/>
              </a:rPr>
              <a:t>Offline Resources: </a:t>
            </a:r>
            <a:r>
              <a:rPr lang="en-US" sz="1600" dirty="0">
                <a:latin typeface="Calibri" panose="020F0502020204030204" pitchFamily="34" charset="0"/>
                <a:ea typeface="Calibri" panose="020F0502020204030204" pitchFamily="34" charset="0"/>
                <a:cs typeface="Calibri" panose="020F0502020204030204" pitchFamily="34" charset="0"/>
              </a:rPr>
              <a:t>By Providing downloadable resources, such as health guides, educational materials, or forms, users can access them offline and refer to as needed</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t> </a:t>
            </a:r>
            <a:br>
              <a:rPr lang="en-US" sz="1600" dirty="0"/>
            </a:br>
            <a:r>
              <a:rPr lang="en-US" sz="1600" dirty="0"/>
              <a:t>➢ </a:t>
            </a:r>
            <a:r>
              <a:rPr lang="en-US" sz="1600" b="1" dirty="0">
                <a:latin typeface="Aptos" panose="020B0004020202020204" pitchFamily="34" charset="0"/>
              </a:rPr>
              <a:t>Collaborate with Local Healthcare Providers: </a:t>
            </a:r>
            <a:r>
              <a:rPr lang="en-US" sz="1600" dirty="0">
                <a:latin typeface="Calibri" panose="020F0502020204030204" pitchFamily="34" charset="0"/>
                <a:ea typeface="Calibri" panose="020F0502020204030204" pitchFamily="34" charset="0"/>
                <a:cs typeface="Calibri" panose="020F0502020204030204" pitchFamily="34" charset="0"/>
              </a:rPr>
              <a:t>By establishing partnerships with local healthcare providers or clinics in rural areas. This collaboration can help bridge the gap between online and offline healthcare services, providing users with a more comprehensive healthcare experience</a:t>
            </a:r>
            <a:r>
              <a:rPr lang="en-US" sz="1800" dirty="0">
                <a:latin typeface="Calibri" panose="020F0502020204030204" pitchFamily="34" charset="0"/>
                <a:ea typeface="Calibri" panose="020F0502020204030204" pitchFamily="34" charset="0"/>
                <a:cs typeface="Calibri" panose="020F0502020204030204" pitchFamily="34" charset="0"/>
              </a:rPr>
              <a:t>. </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EC76F950-D48B-A6CB-CE46-A30DAE47D462}"/>
              </a:ext>
            </a:extLst>
          </p:cNvPr>
          <p:cNvSpPr>
            <a:spLocks noGrp="1"/>
          </p:cNvSpPr>
          <p:nvPr>
            <p:ph type="sldNum" sz="quarter" idx="11"/>
          </p:nvPr>
        </p:nvSpPr>
        <p:spPr/>
        <p:txBody>
          <a:bodyPr/>
          <a:lstStyle/>
          <a:p>
            <a:fld id="{75DF2D63-3FF5-D547-96B9-BE9CCD1ABA58}" type="slidenum">
              <a:rPr lang="en-US" smtClean="0"/>
              <a:t>14</a:t>
            </a:fld>
            <a:endParaRPr lang="en-US" dirty="0"/>
          </a:p>
        </p:txBody>
      </p:sp>
      <p:sp>
        <p:nvSpPr>
          <p:cNvPr id="4" name="Footer Placeholder 3">
            <a:extLst>
              <a:ext uri="{FF2B5EF4-FFF2-40B4-BE49-F238E27FC236}">
                <a16:creationId xmlns:a16="http://schemas.microsoft.com/office/drawing/2014/main" id="{15FDD5FB-9DE8-9EB3-FE73-4D15B752CDFE}"/>
              </a:ext>
            </a:extLst>
          </p:cNvPr>
          <p:cNvSpPr>
            <a:spLocks noGrp="1"/>
          </p:cNvSpPr>
          <p:nvPr>
            <p:ph type="ftr" sz="quarter" idx="12"/>
          </p:nvPr>
        </p:nvSpPr>
        <p:spPr/>
        <p:txBody>
          <a:bodyPr/>
          <a:lstStyle/>
          <a:p>
            <a:r>
              <a:rPr lang="en-US" dirty="0"/>
              <a:t>HEALTH-SYNERGY</a:t>
            </a:r>
          </a:p>
        </p:txBody>
      </p:sp>
    </p:spTree>
    <p:extLst>
      <p:ext uri="{BB962C8B-B14F-4D97-AF65-F5344CB8AC3E}">
        <p14:creationId xmlns:p14="http://schemas.microsoft.com/office/powerpoint/2010/main" val="1013745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168A-9F8B-AE64-6A3B-DD036396CD45}"/>
              </a:ext>
            </a:extLst>
          </p:cNvPr>
          <p:cNvSpPr>
            <a:spLocks noGrp="1"/>
          </p:cNvSpPr>
          <p:nvPr>
            <p:ph type="title"/>
          </p:nvPr>
        </p:nvSpPr>
        <p:spPr/>
        <p:txBody>
          <a:bodyPr/>
          <a:lstStyle/>
          <a:p>
            <a:r>
              <a:rPr lang="en-US" dirty="0">
                <a:cs typeface="Calibri Light"/>
              </a:rPr>
              <a:t>Meet our team</a:t>
            </a:r>
            <a:endParaRPr lang="en-US" dirty="0"/>
          </a:p>
        </p:txBody>
      </p:sp>
      <p:sp>
        <p:nvSpPr>
          <p:cNvPr id="4" name="Footer Placeholder 3">
            <a:extLst>
              <a:ext uri="{FF2B5EF4-FFF2-40B4-BE49-F238E27FC236}">
                <a16:creationId xmlns:a16="http://schemas.microsoft.com/office/drawing/2014/main" id="{8A39D430-6FFC-66C6-AF3D-05E76D9D4BB4}"/>
              </a:ext>
            </a:extLst>
          </p:cNvPr>
          <p:cNvSpPr>
            <a:spLocks noGrp="1"/>
          </p:cNvSpPr>
          <p:nvPr>
            <p:ph type="ftr" sz="quarter" idx="11"/>
          </p:nvPr>
        </p:nvSpPr>
        <p:spPr/>
        <p:txBody>
          <a:bodyPr/>
          <a:lstStyle/>
          <a:p>
            <a:r>
              <a:rPr lang="en-US" dirty="0"/>
              <a:t>HEALTH-SYNERGY</a:t>
            </a:r>
          </a:p>
        </p:txBody>
      </p:sp>
      <p:sp>
        <p:nvSpPr>
          <p:cNvPr id="3" name="Slide Number Placeholder 2">
            <a:extLst>
              <a:ext uri="{FF2B5EF4-FFF2-40B4-BE49-F238E27FC236}">
                <a16:creationId xmlns:a16="http://schemas.microsoft.com/office/drawing/2014/main" id="{F08CF61D-4147-236F-218C-CE2A064E6BD9}"/>
              </a:ext>
            </a:extLst>
          </p:cNvPr>
          <p:cNvSpPr>
            <a:spLocks noGrp="1"/>
          </p:cNvSpPr>
          <p:nvPr>
            <p:ph type="sldNum" sz="quarter" idx="10"/>
          </p:nvPr>
        </p:nvSpPr>
        <p:spPr/>
        <p:txBody>
          <a:bodyPr/>
          <a:lstStyle/>
          <a:p>
            <a:fld id="{75DF2D63-3FF5-D547-96B9-BE9CCD1ABA58}" type="slidenum">
              <a:rPr lang="en-US" smtClean="0"/>
              <a:pPr/>
              <a:t>15</a:t>
            </a:fld>
            <a:endParaRPr lang="en-US" dirty="0"/>
          </a:p>
        </p:txBody>
      </p:sp>
      <p:sp>
        <p:nvSpPr>
          <p:cNvPr id="9" name="Text Placeholder 8">
            <a:extLst>
              <a:ext uri="{FF2B5EF4-FFF2-40B4-BE49-F238E27FC236}">
                <a16:creationId xmlns:a16="http://schemas.microsoft.com/office/drawing/2014/main" id="{4555555B-2DC1-8FAB-836A-FF067294BAB7}"/>
              </a:ext>
            </a:extLst>
          </p:cNvPr>
          <p:cNvSpPr>
            <a:spLocks noGrp="1"/>
          </p:cNvSpPr>
          <p:nvPr>
            <p:ph type="body" sz="quarter" idx="16"/>
          </p:nvPr>
        </p:nvSpPr>
        <p:spPr/>
        <p:txBody>
          <a:bodyPr/>
          <a:lstStyle/>
          <a:p>
            <a:r>
              <a:rPr lang="en-US" dirty="0"/>
              <a:t>NAGAVARAM</a:t>
            </a:r>
            <a:br>
              <a:rPr lang="en-US" sz="1400" dirty="0">
                <a:effectLst/>
              </a:rPr>
            </a:br>
            <a:r>
              <a:rPr lang="en-US" dirty="0"/>
              <a:t>ASHRITH</a:t>
            </a:r>
          </a:p>
        </p:txBody>
      </p:sp>
      <p:pic>
        <p:nvPicPr>
          <p:cNvPr id="18" name="Picture Placeholder 29" descr="Team member head shot">
            <a:extLst>
              <a:ext uri="{FF2B5EF4-FFF2-40B4-BE49-F238E27FC236}">
                <a16:creationId xmlns:a16="http://schemas.microsoft.com/office/drawing/2014/main" id="{2D82977F-BE23-77F5-BFCE-00474CDF4069}"/>
              </a:ext>
            </a:extLst>
          </p:cNvPr>
          <p:cNvPicPr>
            <a:picLocks noGrp="1" noChangeAspect="1"/>
          </p:cNvPicPr>
          <p:nvPr>
            <p:ph type="pic" sz="quarter" idx="13"/>
          </p:nvPr>
        </p:nvPicPr>
        <p:blipFill rotWithShape="1">
          <a:blip r:embed="rId2" cstate="print">
            <a:extLst>
              <a:ext uri="{28A0092B-C50C-407E-A947-70E740481C1C}">
                <a14:useLocalDpi xmlns:a14="http://schemas.microsoft.com/office/drawing/2010/main"/>
              </a:ext>
            </a:extLst>
          </a:blip>
          <a:srcRect/>
          <a:stretch/>
        </p:blipFill>
        <p:spPr>
          <a:xfrm>
            <a:off x="3886200" y="2441575"/>
            <a:ext cx="1828800" cy="1828800"/>
          </a:xfrm>
          <a:custGeom>
            <a:avLst/>
            <a:gdLst>
              <a:gd name="connsiteX0" fmla="*/ 891540 w 1783080"/>
              <a:gd name="connsiteY0" fmla="*/ 0 h 1783080"/>
              <a:gd name="connsiteX1" fmla="*/ 1783080 w 1783080"/>
              <a:gd name="connsiteY1" fmla="*/ 891540 h 1783080"/>
              <a:gd name="connsiteX2" fmla="*/ 891540 w 1783080"/>
              <a:gd name="connsiteY2" fmla="*/ 1783080 h 1783080"/>
              <a:gd name="connsiteX3" fmla="*/ 0 w 1783080"/>
              <a:gd name="connsiteY3" fmla="*/ 891540 h 1783080"/>
              <a:gd name="connsiteX4" fmla="*/ 891540 w 1783080"/>
              <a:gd name="connsiteY4" fmla="*/ 0 h 1783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3080" h="1783080">
                <a:moveTo>
                  <a:pt x="891540" y="0"/>
                </a:moveTo>
                <a:cubicBezTo>
                  <a:pt x="1383924" y="0"/>
                  <a:pt x="1783080" y="399156"/>
                  <a:pt x="1783080" y="891540"/>
                </a:cubicBezTo>
                <a:cubicBezTo>
                  <a:pt x="1783080" y="1383924"/>
                  <a:pt x="1383924" y="1783080"/>
                  <a:pt x="891540" y="1783080"/>
                </a:cubicBezTo>
                <a:cubicBezTo>
                  <a:pt x="399156" y="1783080"/>
                  <a:pt x="0" y="1383924"/>
                  <a:pt x="0" y="891540"/>
                </a:cubicBezTo>
                <a:cubicBezTo>
                  <a:pt x="0" y="399156"/>
                  <a:pt x="399156" y="0"/>
                  <a:pt x="891540" y="0"/>
                </a:cubicBezTo>
                <a:close/>
              </a:path>
            </a:pathLst>
          </a:custGeom>
        </p:spPr>
      </p:pic>
      <p:sp>
        <p:nvSpPr>
          <p:cNvPr id="11" name="Text Placeholder 10">
            <a:extLst>
              <a:ext uri="{FF2B5EF4-FFF2-40B4-BE49-F238E27FC236}">
                <a16:creationId xmlns:a16="http://schemas.microsoft.com/office/drawing/2014/main" id="{94001C92-5199-4EEF-9AD8-8F9EEF76C6F4}"/>
              </a:ext>
            </a:extLst>
          </p:cNvPr>
          <p:cNvSpPr>
            <a:spLocks noGrp="1"/>
          </p:cNvSpPr>
          <p:nvPr>
            <p:ph type="body" sz="quarter" idx="18"/>
          </p:nvPr>
        </p:nvSpPr>
        <p:spPr/>
        <p:txBody>
          <a:bodyPr/>
          <a:lstStyle/>
          <a:p>
            <a:r>
              <a:rPr lang="en-US" sz="1400" dirty="0"/>
              <a:t>MOHAMMED ZIYAD</a:t>
            </a:r>
          </a:p>
        </p:txBody>
      </p:sp>
      <p:pic>
        <p:nvPicPr>
          <p:cNvPr id="19" name="Picture Placeholder 31" descr="Team member head shot">
            <a:extLst>
              <a:ext uri="{FF2B5EF4-FFF2-40B4-BE49-F238E27FC236}">
                <a16:creationId xmlns:a16="http://schemas.microsoft.com/office/drawing/2014/main" id="{F1995D2A-6DEB-36F1-92BE-92F53999C470}"/>
              </a:ext>
            </a:extLst>
          </p:cNvPr>
          <p:cNvPicPr>
            <a:picLocks noGrp="1" noChangeAspect="1"/>
          </p:cNvPicPr>
          <p:nvPr>
            <p:ph type="pic" sz="quarter" idx="14"/>
          </p:nvPr>
        </p:nvPicPr>
        <p:blipFill rotWithShape="1">
          <a:blip r:embed="rId3" cstate="print">
            <a:extLst>
              <a:ext uri="{28A0092B-C50C-407E-A947-70E740481C1C}">
                <a14:useLocalDpi xmlns:a14="http://schemas.microsoft.com/office/drawing/2010/main"/>
              </a:ext>
            </a:extLst>
          </a:blip>
          <a:srcRect t="127" b="127"/>
          <a:stretch/>
        </p:blipFill>
        <p:spPr>
          <a:xfrm>
            <a:off x="6473825" y="2441575"/>
            <a:ext cx="1828800" cy="1828800"/>
          </a:xfrm>
          <a:custGeom>
            <a:avLst/>
            <a:gdLst>
              <a:gd name="connsiteX0" fmla="*/ 891540 w 1783080"/>
              <a:gd name="connsiteY0" fmla="*/ 0 h 1783080"/>
              <a:gd name="connsiteX1" fmla="*/ 1783080 w 1783080"/>
              <a:gd name="connsiteY1" fmla="*/ 891540 h 1783080"/>
              <a:gd name="connsiteX2" fmla="*/ 891540 w 1783080"/>
              <a:gd name="connsiteY2" fmla="*/ 1783080 h 1783080"/>
              <a:gd name="connsiteX3" fmla="*/ 0 w 1783080"/>
              <a:gd name="connsiteY3" fmla="*/ 891540 h 1783080"/>
              <a:gd name="connsiteX4" fmla="*/ 891540 w 1783080"/>
              <a:gd name="connsiteY4" fmla="*/ 0 h 1783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3080" h="1783080">
                <a:moveTo>
                  <a:pt x="891540" y="0"/>
                </a:moveTo>
                <a:cubicBezTo>
                  <a:pt x="1383924" y="0"/>
                  <a:pt x="1783080" y="399156"/>
                  <a:pt x="1783080" y="891540"/>
                </a:cubicBezTo>
                <a:cubicBezTo>
                  <a:pt x="1783080" y="1383924"/>
                  <a:pt x="1383924" y="1783080"/>
                  <a:pt x="891540" y="1783080"/>
                </a:cubicBezTo>
                <a:cubicBezTo>
                  <a:pt x="399156" y="1783080"/>
                  <a:pt x="0" y="1383924"/>
                  <a:pt x="0" y="891540"/>
                </a:cubicBezTo>
                <a:cubicBezTo>
                  <a:pt x="0" y="399156"/>
                  <a:pt x="399156" y="0"/>
                  <a:pt x="891540" y="0"/>
                </a:cubicBezTo>
                <a:close/>
              </a:path>
            </a:pathLst>
          </a:custGeom>
        </p:spPr>
      </p:pic>
      <p:sp>
        <p:nvSpPr>
          <p:cNvPr id="13" name="Text Placeholder 12">
            <a:extLst>
              <a:ext uri="{FF2B5EF4-FFF2-40B4-BE49-F238E27FC236}">
                <a16:creationId xmlns:a16="http://schemas.microsoft.com/office/drawing/2014/main" id="{5B78A878-C090-192A-ABA1-84C905B5183C}"/>
              </a:ext>
            </a:extLst>
          </p:cNvPr>
          <p:cNvSpPr>
            <a:spLocks noGrp="1"/>
          </p:cNvSpPr>
          <p:nvPr>
            <p:ph type="body" sz="quarter" idx="20"/>
          </p:nvPr>
        </p:nvSpPr>
        <p:spPr/>
        <p:txBody>
          <a:bodyPr/>
          <a:lstStyle/>
          <a:p>
            <a:r>
              <a:rPr lang="en-US" dirty="0"/>
              <a:t>KAVYA HEMANTH</a:t>
            </a:r>
            <a:endParaRPr lang="en-US" sz="1400" dirty="0"/>
          </a:p>
        </p:txBody>
      </p:sp>
      <p:pic>
        <p:nvPicPr>
          <p:cNvPr id="20" name="Picture Placeholder 33" descr="Team member head shot">
            <a:extLst>
              <a:ext uri="{FF2B5EF4-FFF2-40B4-BE49-F238E27FC236}">
                <a16:creationId xmlns:a16="http://schemas.microsoft.com/office/drawing/2014/main" id="{C0F4481F-3B4F-240E-A0EB-A783661AD47C}"/>
              </a:ext>
            </a:extLst>
          </p:cNvPr>
          <p:cNvPicPr>
            <a:picLocks noGrp="1" noChangeAspect="1"/>
          </p:cNvPicPr>
          <p:nvPr>
            <p:ph type="pic" sz="quarter" idx="15"/>
          </p:nvPr>
        </p:nvPicPr>
        <p:blipFill rotWithShape="1">
          <a:blip r:embed="rId4" cstate="print">
            <a:extLst>
              <a:ext uri="{28A0092B-C50C-407E-A947-70E740481C1C}">
                <a14:useLocalDpi xmlns:a14="http://schemas.microsoft.com/office/drawing/2010/main"/>
              </a:ext>
            </a:extLst>
          </a:blip>
          <a:srcRect t="114" b="114"/>
          <a:stretch/>
        </p:blipFill>
        <p:spPr>
          <a:xfrm>
            <a:off x="9034463" y="2441575"/>
            <a:ext cx="1828800" cy="1828800"/>
          </a:xfrm>
          <a:custGeom>
            <a:avLst/>
            <a:gdLst>
              <a:gd name="connsiteX0" fmla="*/ 891540 w 1783080"/>
              <a:gd name="connsiteY0" fmla="*/ 0 h 1783080"/>
              <a:gd name="connsiteX1" fmla="*/ 1783080 w 1783080"/>
              <a:gd name="connsiteY1" fmla="*/ 891540 h 1783080"/>
              <a:gd name="connsiteX2" fmla="*/ 891540 w 1783080"/>
              <a:gd name="connsiteY2" fmla="*/ 1783080 h 1783080"/>
              <a:gd name="connsiteX3" fmla="*/ 0 w 1783080"/>
              <a:gd name="connsiteY3" fmla="*/ 891540 h 1783080"/>
              <a:gd name="connsiteX4" fmla="*/ 891540 w 1783080"/>
              <a:gd name="connsiteY4" fmla="*/ 0 h 1783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3080" h="1783080">
                <a:moveTo>
                  <a:pt x="891540" y="0"/>
                </a:moveTo>
                <a:cubicBezTo>
                  <a:pt x="1383924" y="0"/>
                  <a:pt x="1783080" y="399156"/>
                  <a:pt x="1783080" y="891540"/>
                </a:cubicBezTo>
                <a:cubicBezTo>
                  <a:pt x="1783080" y="1383924"/>
                  <a:pt x="1383924" y="1783080"/>
                  <a:pt x="891540" y="1783080"/>
                </a:cubicBezTo>
                <a:cubicBezTo>
                  <a:pt x="399156" y="1783080"/>
                  <a:pt x="0" y="1383924"/>
                  <a:pt x="0" y="891540"/>
                </a:cubicBezTo>
                <a:cubicBezTo>
                  <a:pt x="0" y="399156"/>
                  <a:pt x="399156" y="0"/>
                  <a:pt x="891540" y="0"/>
                </a:cubicBezTo>
                <a:close/>
              </a:path>
            </a:pathLst>
          </a:custGeom>
        </p:spPr>
      </p:pic>
      <p:sp>
        <p:nvSpPr>
          <p:cNvPr id="15" name="Text Placeholder 14">
            <a:extLst>
              <a:ext uri="{FF2B5EF4-FFF2-40B4-BE49-F238E27FC236}">
                <a16:creationId xmlns:a16="http://schemas.microsoft.com/office/drawing/2014/main" id="{5DEDE163-143D-DC6B-34E9-732EFB294CA9}"/>
              </a:ext>
            </a:extLst>
          </p:cNvPr>
          <p:cNvSpPr>
            <a:spLocks noGrp="1"/>
          </p:cNvSpPr>
          <p:nvPr>
            <p:ph type="body" sz="quarter" idx="22"/>
          </p:nvPr>
        </p:nvSpPr>
        <p:spPr/>
        <p:txBody>
          <a:bodyPr/>
          <a:lstStyle/>
          <a:p>
            <a:r>
              <a:rPr lang="en-US" dirty="0"/>
              <a:t>MAANASTEJ BIRUDUKOTA</a:t>
            </a:r>
            <a:endParaRPr lang="en-US" sz="1400" dirty="0"/>
          </a:p>
        </p:txBody>
      </p:sp>
      <p:pic>
        <p:nvPicPr>
          <p:cNvPr id="26" name="Picture Placeholder 25">
            <a:extLst>
              <a:ext uri="{FF2B5EF4-FFF2-40B4-BE49-F238E27FC236}">
                <a16:creationId xmlns:a16="http://schemas.microsoft.com/office/drawing/2014/main" id="{50EDA04D-7FA0-6E65-98AA-433B834B8C98}"/>
              </a:ext>
            </a:extLst>
          </p:cNvPr>
          <p:cNvPicPr>
            <a:picLocks noGrp="1" noChangeAspect="1"/>
          </p:cNvPicPr>
          <p:nvPr>
            <p:ph type="pic" sz="quarter" idx="12"/>
          </p:nvPr>
        </p:nvPicPr>
        <p:blipFill>
          <a:blip r:embed="rId5"/>
          <a:srcRect l="38" r="38"/>
          <a:stretch>
            <a:fillRect/>
          </a:stretch>
        </p:blipFill>
        <p:spPr>
          <a:xfrm rot="5589031">
            <a:off x="1299946" y="2386944"/>
            <a:ext cx="1884888" cy="1884888"/>
          </a:xfrm>
        </p:spPr>
      </p:pic>
    </p:spTree>
    <p:extLst>
      <p:ext uri="{BB962C8B-B14F-4D97-AF65-F5344CB8AC3E}">
        <p14:creationId xmlns:p14="http://schemas.microsoft.com/office/powerpoint/2010/main" val="4146645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White DNA structure">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2">
            <a:alphaModFix amt="50000"/>
            <a:extLst>
              <a:ext uri="{28A0092B-C50C-407E-A947-70E740481C1C}">
                <a14:useLocalDpi xmlns:a14="http://schemas.microsoft.com/office/drawing/2010/main" val="0"/>
              </a:ext>
            </a:extLst>
          </a:blip>
          <a:srcRect/>
          <a:stretch/>
        </p:blipFill>
        <p:spPr/>
      </p:pic>
      <p:sp>
        <p:nvSpPr>
          <p:cNvPr id="19" name="Title 18">
            <a:extLst>
              <a:ext uri="{FF2B5EF4-FFF2-40B4-BE49-F238E27FC236}">
                <a16:creationId xmlns:a16="http://schemas.microsoft.com/office/drawing/2014/main" id="{1130D679-D78E-1F15-EC3D-4BED6D69B35F}"/>
              </a:ext>
            </a:extLst>
          </p:cNvPr>
          <p:cNvSpPr>
            <a:spLocks noGrp="1"/>
          </p:cNvSpPr>
          <p:nvPr>
            <p:ph type="title"/>
          </p:nvPr>
        </p:nvSpPr>
        <p:spPr/>
        <p:txBody>
          <a:bodyPr/>
          <a:lstStyle/>
          <a:p>
            <a:r>
              <a:rPr lang="en-US" dirty="0"/>
              <a:t>Thank you </a:t>
            </a:r>
          </a:p>
        </p:txBody>
      </p:sp>
      <p:pic>
        <p:nvPicPr>
          <p:cNvPr id="22" name="Picture Placeholder 25" descr="Bacteria cultured in a petri dish for a laboratory or a scientific investigation">
            <a:extLst>
              <a:ext uri="{FF2B5EF4-FFF2-40B4-BE49-F238E27FC236}">
                <a16:creationId xmlns:a16="http://schemas.microsoft.com/office/drawing/2014/main" id="{862BA3D8-52E1-692C-F244-F7882DAD2287}"/>
              </a:ext>
            </a:extLst>
          </p:cNvPr>
          <p:cNvPicPr>
            <a:picLocks noGrp="1" noChangeAspect="1"/>
          </p:cNvPicPr>
          <p:nvPr>
            <p:ph type="pic" sz="quarter" idx="13"/>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3334127647"/>
      </p:ext>
    </p:extLst>
  </p:cSld>
  <p:clrMapOvr>
    <a:masterClrMapping/>
  </p:clrMapOvr>
</p:sld>
</file>

<file path=ppt/theme/theme1.xml><?xml version="1.0" encoding="utf-8"?>
<a:theme xmlns:a="http://schemas.openxmlformats.org/drawingml/2006/main" name="Office Theme">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Discovery_Win32_EF_v4" id="{D94798B6-E450-4518-8015-6EE17CD1412B}" vid="{16A04E6B-C80A-471C-86D6-D49E9EAD76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746342-5E84-430E-9251-61001F208E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E8B3377-22F1-4153-96F0-CC2E4BE41C5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{C352013D-A4D1-42CB-BF51-B518DB02F451}tf67061901_win32</Template>
  <TotalTime>426</TotalTime>
  <Words>2200</Words>
  <Application>Microsoft Office PowerPoint</Application>
  <PresentationFormat>Widescreen</PresentationFormat>
  <Paragraphs>140</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Aptos</vt:lpstr>
      <vt:lpstr>Arial</vt:lpstr>
      <vt:lpstr>Bahnschrift</vt:lpstr>
      <vt:lpstr>Bahnschrift Light</vt:lpstr>
      <vt:lpstr>Bahnschrift SemiBold</vt:lpstr>
      <vt:lpstr>Calibri</vt:lpstr>
      <vt:lpstr>Cambria</vt:lpstr>
      <vt:lpstr>Daytona Condensed Light</vt:lpstr>
      <vt:lpstr>Dubai Medium</vt:lpstr>
      <vt:lpstr>Posterama</vt:lpstr>
      <vt:lpstr>Office Theme</vt:lpstr>
      <vt:lpstr>HEALTH-SYNERGY (TELEHEALTH PLATFORM)</vt:lpstr>
      <vt:lpstr>CONTENTS</vt:lpstr>
      <vt:lpstr>Introduction</vt:lpstr>
      <vt:lpstr>PowerPoint Presentation</vt:lpstr>
      <vt:lpstr>PowerPoint Presentation</vt:lpstr>
      <vt:lpstr>TELEHEALTH PLATFORM </vt:lpstr>
      <vt:lpstr>Why Health Synergy?</vt:lpstr>
      <vt:lpstr>“BEYOND THE BUZZ”   What Sets Our Website Apart in a Crowded Digital Landscape</vt:lpstr>
      <vt:lpstr>MOTIVATION BEHIND DEVELOPING THIS WEBSITE:</vt:lpstr>
      <vt:lpstr>NAVIGATING OPTIONS</vt:lpstr>
      <vt:lpstr>BEHIND THE SCENES  PROBLEMS FACED WHILE MAKING THE WEBSITE</vt:lpstr>
      <vt:lpstr>PowerPoint Presentation</vt:lpstr>
      <vt:lpstr>PowerPoint Presentation</vt:lpstr>
      <vt:lpstr>➢ Localized (something): Tailored content is added to make relevant changes based on healthcare needs of individuals in rural areas. Information on common health issues in these regions and relevant preventive measures is thrown in.   ➢ Community Outreach: Community outreach initiatives are organized to raise awareness. Collaborations with local organizations, community leaders, and healthcare providers are established in order to promote the platform and help the users get familiar with the working  ➢ Alternate Communication Channels: Helpline or email support are made readily available, for users who may face challenges using the website. This enables them to comfortably seek for help whenever required.   ➢ Local Language Support: Availability of helpline and support through local languages enhances accessibility and ensures that users can navigate smoothly and understand the content more effectively.   ➢ Offline Resources: By Providing downloadable resources, such as health guides, educational materials, or forms, users can access them offline and refer to as needed   ➢ Collaborate with Local Healthcare Providers: By establishing partnerships with local healthcare providers or clinics in rural areas. This collaboration can help bridge the gap between online and offline healthcare services, providing users with a more comprehensive healthcare experience. </vt:lpstr>
      <vt:lpstr>Meet our team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HEALTH-SYNERGY (TELEHEALTH PLATFORM)</dc:title>
  <dc:creator>ashrithrao64@gmail.com</dc:creator>
  <cp:lastModifiedBy>ashrithrao64@gmail.com</cp:lastModifiedBy>
  <cp:revision>2</cp:revision>
  <dcterms:created xsi:type="dcterms:W3CDTF">2023-12-23T04:12:03Z</dcterms:created>
  <dcterms:modified xsi:type="dcterms:W3CDTF">2023-12-23T11:18:22Z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